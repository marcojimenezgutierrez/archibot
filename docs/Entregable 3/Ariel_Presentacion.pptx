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2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A — AVC</c:v>
                </c:pt>
              </c:strCache>
            </c:strRef>
          </c:tx>
          <c:spPr>
            <a:solidFill>
              <a:srgbClr val="0E7C86"/>
            </a:solidFill>
            <a:effectLst/>
          </c:spPr>
          <c:invertIfNegative val="0"/>
          <c:dLbls>
            <c:numFmt formatCode="0.0" sourceLinked="0"/>
            <c:spPr>
              <a:noFill/>
              <a:ln>
                <a:noFill/>
              </a:ln>
              <a:effectLst/>
            </c:spPr>
            <c:txPr>
              <a:bodyPr/>
              <a:lstStyle/>
              <a:p>
                <a:pPr>
                  <a:defRPr sz="900" b="0" i="0" u="none" strike="noStrike">
                    <a:solidFill>
                      <a:srgbClr val="1E2A32"/>
                    </a:solidFill>
                    <a:latin typeface="Calibri"/>
                  </a:defRPr>
                </a:pPr>
                <a:endParaRPr lang="es-C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Antropom.</c:v>
                </c:pt>
                <c:pt idx="1">
                  <c:v>Animacidad</c:v>
                </c:pt>
                <c:pt idx="2">
                  <c:v>Simpatía</c:v>
                </c:pt>
                <c:pt idx="3">
                  <c:v>Intel. perc.</c:v>
                </c:pt>
                <c:pt idx="4">
                  <c:v>Seg. perc.</c:v>
                </c:pt>
              </c:strCache>
            </c:strRef>
          </c:cat>
          <c:val>
            <c:numRef>
              <c:f>Sheet1!$B$2:$B$6</c:f>
              <c:numCache>
                <c:formatCode>General</c:formatCode>
                <c:ptCount val="5"/>
                <c:pt idx="0">
                  <c:v>1.6</c:v>
                </c:pt>
                <c:pt idx="1">
                  <c:v>2</c:v>
                </c:pt>
                <c:pt idx="2">
                  <c:v>3.15</c:v>
                </c:pt>
                <c:pt idx="3">
                  <c:v>3.8</c:v>
                </c:pt>
                <c:pt idx="4">
                  <c:v>3.25</c:v>
                </c:pt>
              </c:numCache>
            </c:numRef>
          </c:val>
          <c:extLst>
            <c:ext xmlns:c16="http://schemas.microsoft.com/office/drawing/2014/chart" uri="{C3380CC4-5D6E-409C-BE32-E72D297353CC}">
              <c16:uniqueId val="{00000000-02AE-435E-97B1-4B1B91EDD089}"/>
            </c:ext>
          </c:extLst>
        </c:ser>
        <c:ser>
          <c:idx val="1"/>
          <c:order val="1"/>
          <c:tx>
            <c:strRef>
              <c:f>Sheet1!$C$1</c:f>
              <c:strCache>
                <c:ptCount val="1"/>
                <c:pt idx="0">
                  <c:v>B — Texto</c:v>
                </c:pt>
              </c:strCache>
            </c:strRef>
          </c:tx>
          <c:spPr>
            <a:solidFill>
              <a:srgbClr val="C2D6D9"/>
            </a:solidFill>
            <a:effectLst/>
          </c:spPr>
          <c:invertIfNegative val="0"/>
          <c:dLbls>
            <c:numFmt formatCode="0.0" sourceLinked="0"/>
            <c:spPr>
              <a:noFill/>
              <a:ln>
                <a:noFill/>
              </a:ln>
              <a:effectLst/>
            </c:spPr>
            <c:txPr>
              <a:bodyPr/>
              <a:lstStyle/>
              <a:p>
                <a:pPr>
                  <a:defRPr sz="900" b="0" i="0" u="none" strike="noStrike">
                    <a:solidFill>
                      <a:srgbClr val="1E2A32"/>
                    </a:solidFill>
                    <a:latin typeface="Calibri"/>
                  </a:defRPr>
                </a:pPr>
                <a:endParaRPr lang="es-C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Antropom.</c:v>
                </c:pt>
                <c:pt idx="1">
                  <c:v>Animacidad</c:v>
                </c:pt>
                <c:pt idx="2">
                  <c:v>Simpatía</c:v>
                </c:pt>
                <c:pt idx="3">
                  <c:v>Intel. perc.</c:v>
                </c:pt>
                <c:pt idx="4">
                  <c:v>Seg. perc.</c:v>
                </c:pt>
              </c:strCache>
            </c:strRef>
          </c:cat>
          <c:val>
            <c:numRef>
              <c:f>Sheet1!$C$2:$C$6</c:f>
              <c:numCache>
                <c:formatCode>General</c:formatCode>
                <c:ptCount val="5"/>
                <c:pt idx="0">
                  <c:v>2.5</c:v>
                </c:pt>
                <c:pt idx="1">
                  <c:v>3.04</c:v>
                </c:pt>
                <c:pt idx="2">
                  <c:v>3.85</c:v>
                </c:pt>
                <c:pt idx="3">
                  <c:v>3.9</c:v>
                </c:pt>
                <c:pt idx="4">
                  <c:v>4</c:v>
                </c:pt>
              </c:numCache>
            </c:numRef>
          </c:val>
          <c:extLst>
            <c:ext xmlns:c16="http://schemas.microsoft.com/office/drawing/2014/chart" uri="{C3380CC4-5D6E-409C-BE32-E72D297353CC}">
              <c16:uniqueId val="{00000001-02AE-435E-97B1-4B1B91EDD089}"/>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7079"/>
                </a:solidFill>
                <a:latin typeface="Arial"/>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6EB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707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2A32"/>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128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Buenas. Presento Ariel, un agente virtual corporizado para consulta de documentos sobre RAG. La pregunta que guía el trabajo es directa: cuando ponemos un cuerpo y una voz frente a un sistema RAG, ¿realmente mejora la experiencia, o no? Hoy muestro el sistema, el estudio con expertos y lo que encontramos.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El RAG ya resuelve la parte difícil: recupera del documento y responde con fundamento. El problema es de interfaz: casi todo se entrega como texto. La pregunta de diseño es si añadir cuerpo y voz mejora la percepción, o solo agrega ruido. No es obvio que ayude, porque aquí lo que importa es que el dato sea correcto.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Tres preguntas, todas comparando la condición con agente corporizado contra una interfaz solo de texto: confianza; naturalidad y comprensión; usabilidad y retención. La clave del diseño: el motor RAG y el LLM son idénticos en ambas condiciones, así que cualquier diferencia se atribuye al cuerpo y la voz.</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Ariel corre 100% en el navegador: avatar VRM con Three.js, sin Unity. El back end es un RAG en Node/Express, desplegado como Firebase Cloud Functions, con GPT-4.1-nano. La voz usa la Web Speech API. Lo importante para el estudio es el toggle: con un clic paso de la condición con agente a la de solo texto, manteniendo el mismo motor. A la derecha, el sistema real.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o demo en vivo) Aquí hago la demostración. Muestro dos corridas: primero la condición con agente, donde pregunto por voz y Ariel responde hablando; luego la de texto con la misma consulta. Si la demo en vivo falla, reproduzco el video pregrabado enlazado en el README. El contenido de la respuesta es el mismo: lo único que cambia es la presentación.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Piloto con expertos, entre-sujetos: cada persona ve solo una condición, para evitar el sesgo de comparación directa. Ocho participantes, cuatro por condición; excluí a TXT-01 porque no completó todos los formularios. El expediente son tres reglamentos reales de la UCR con datos verificables para medir retención objetiva. Tres tareas, cuatro instrumentos estándar. Al ser piloto, el análisis es descriptivo: tendencias, no significancia.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Tres números resumen todo. Confianza: el agente sube, 4.83 contra 3.58. Naturalidad por antropomorfismo: el agente BAJA, 1.60 contra 2.50; el texto se percibió MÁS natural que el avatar. Usabilidad: empate, ambos sobre el umbral aceptable de 68. La retención también equivalente y alta. El cuerpo ayudó en una cosa, perjudicó en otra y no movió la tercera.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Este es el corazón del trabajo. La barra oscura es el agente; la clara, el texto. En cuatro de cinco subescalas el agente queda por debajo. La única que se iguala es inteligencia percibida, y tiene sentido: eso lo determina el RAG, que es el mismo. ¿Por qué baja la naturalidad? Por la fidelidad: voz del navegador, lip-sync simulado y avatar tipo manga generan señales de artificialidad. Valle Inquietante en acción.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Por pregunta. RQ1: el agente sube la confianza, pero en ambas condiciones lo que más confianza generó fue ver el artículo citado en el PDF. RQ2: el agente baja la naturalidad, por fidelidad, no por tener cuerpo. RQ3: empate en usabilidad y retención; el cuerpo no estorba, pero tampoco ayuda a comprender más, probablemente porque la tarea es corta y el PDF siempre está visible.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Las citas confirman la interpretación. Todos los participantes del agente señalaron la voz artificial y el movimiento rígido; varios pidieron un avatar más realista. En la condición de texto, la confianza venía de poder verificar el artículo en el PDF. El dato cualitativo apunta al mismo lugar que el cuantitativo —la fidelidad— y a que la fuente visible es el ancla de la confianza.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La conclusión cabe en una frase: el cuello de botella es la fidelidad multimodal, no el cuerpo. El mismo avatar que dio autoridad restó naturalidad porque su voz y movimiento eran sintéticos. Recomendación de diseño: mantener siempre visible la fuente. Por transparencia: por ahora no proyecto someterlo al Comité de Ética ni publicarlo; es un ejercicio del curso, aunque con más fidelidad el siguiente paso sería un estudio con usuarios reales.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En síntesis: el embodiment no es bueno o malo por sí mismo; depende de la fidelidad con que se ejecuta. Con gusto respondo preguntas sobre diseño, instrumentos, limitaciones o siguientes pasos. Gracias.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video" Target="https://www.youtube.com/embed/O4vrTsIRgmk?feature=oembed" TargetMode="External"/><Relationship Id="rId5" Type="http://schemas.openxmlformats.org/officeDocument/2006/relationships/image" Target="../media/image2.jpe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9784080" y="-1463040"/>
            <a:ext cx="4206240" cy="4206240"/>
          </a:xfrm>
          <a:prstGeom prst="ellipse">
            <a:avLst/>
          </a:prstGeom>
          <a:solidFill>
            <a:srgbClr val="0E7C86">
              <a:alpha val="40000"/>
            </a:srgbClr>
          </a:solidFill>
          <a:ln/>
        </p:spPr>
        <p:txBody>
          <a:bodyPr/>
          <a:lstStyle/>
          <a:p>
            <a:endParaRPr lang="es-CR"/>
          </a:p>
        </p:txBody>
      </p:sp>
      <p:sp>
        <p:nvSpPr>
          <p:cNvPr id="3" name="Shape 1"/>
          <p:cNvSpPr/>
          <p:nvPr/>
        </p:nvSpPr>
        <p:spPr>
          <a:xfrm>
            <a:off x="10789920" y="4206240"/>
            <a:ext cx="3291840" cy="3291840"/>
          </a:xfrm>
          <a:prstGeom prst="ellipse">
            <a:avLst/>
          </a:prstGeom>
          <a:solidFill>
            <a:srgbClr val="1FB6A6">
              <a:alpha val="30000"/>
            </a:srgbClr>
          </a:solidFill>
          <a:ln/>
        </p:spPr>
        <p:txBody>
          <a:bodyPr/>
          <a:lstStyle/>
          <a:p>
            <a:endParaRPr lang="es-CR"/>
          </a:p>
        </p:txBody>
      </p:sp>
      <p:sp>
        <p:nvSpPr>
          <p:cNvPr id="4" name="Text 2"/>
          <p:cNvSpPr/>
          <p:nvPr/>
        </p:nvSpPr>
        <p:spPr>
          <a:xfrm>
            <a:off x="731520" y="1234440"/>
            <a:ext cx="10058400" cy="365760"/>
          </a:xfrm>
          <a:prstGeom prst="rect">
            <a:avLst/>
          </a:prstGeom>
          <a:noFill/>
          <a:ln/>
        </p:spPr>
        <p:txBody>
          <a:bodyPr wrap="square" lIns="0" tIns="0" rIns="0" bIns="0" rtlCol="0" anchor="ctr"/>
          <a:lstStyle/>
          <a:p>
            <a:pPr marL="0" indent="0">
              <a:buNone/>
            </a:pPr>
            <a:r>
              <a:rPr lang="en-US" sz="1400" b="1" kern="0" spc="300" dirty="0">
                <a:solidFill>
                  <a:srgbClr val="1FB6A6"/>
                </a:solidFill>
                <a:latin typeface="Calibri" pitchFamily="34" charset="0"/>
                <a:ea typeface="Calibri" pitchFamily="34" charset="-122"/>
                <a:cs typeface="Calibri" pitchFamily="34" charset="-120"/>
              </a:rPr>
              <a:t>ESTUDIO ARIEL · ENTREGA FINAL</a:t>
            </a:r>
            <a:endParaRPr lang="en-US" sz="1400" dirty="0"/>
          </a:p>
        </p:txBody>
      </p:sp>
      <p:sp>
        <p:nvSpPr>
          <p:cNvPr id="5" name="Text 3"/>
          <p:cNvSpPr/>
          <p:nvPr/>
        </p:nvSpPr>
        <p:spPr>
          <a:xfrm>
            <a:off x="731520" y="1783080"/>
            <a:ext cx="1060704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¿Ayuda el embodiment?</a:t>
            </a:r>
            <a:endParaRPr lang="en-US" sz="4600" dirty="0"/>
          </a:p>
        </p:txBody>
      </p:sp>
      <p:sp>
        <p:nvSpPr>
          <p:cNvPr id="6" name="Text 4"/>
          <p:cNvSpPr/>
          <p:nvPr/>
        </p:nvSpPr>
        <p:spPr>
          <a:xfrm>
            <a:off x="731520" y="2788920"/>
            <a:ext cx="10058400" cy="914400"/>
          </a:xfrm>
          <a:prstGeom prst="rect">
            <a:avLst/>
          </a:prstGeom>
          <a:noFill/>
          <a:ln/>
        </p:spPr>
        <p:txBody>
          <a:bodyPr wrap="square" lIns="0" tIns="0" rIns="0" bIns="0" rtlCol="0" anchor="ctr"/>
          <a:lstStyle/>
          <a:p>
            <a:pPr marL="0" indent="0">
              <a:buNone/>
            </a:pPr>
            <a:r>
              <a:rPr lang="en-US" sz="1800" dirty="0">
                <a:solidFill>
                  <a:srgbClr val="CFE3E6"/>
                </a:solidFill>
                <a:latin typeface="Calibri" pitchFamily="34" charset="0"/>
                <a:ea typeface="Calibri" pitchFamily="34" charset="-122"/>
                <a:cs typeface="Calibri" pitchFamily="34" charset="-120"/>
              </a:rPr>
              <a:t>Efecto de un agente virtual corporizado sobre la confianza y la naturalidad en un sistema de consulta documental basado en RAG</a:t>
            </a:r>
            <a:endParaRPr lang="en-US" sz="1800" dirty="0"/>
          </a:p>
        </p:txBody>
      </p:sp>
      <p:sp>
        <p:nvSpPr>
          <p:cNvPr id="7" name="Text 5"/>
          <p:cNvSpPr/>
          <p:nvPr/>
        </p:nvSpPr>
        <p:spPr>
          <a:xfrm>
            <a:off x="731520" y="4160520"/>
            <a:ext cx="10058400" cy="8229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Marco Antonio Jiménez Gutiérrez</a:t>
            </a:r>
            <a:endParaRPr lang="en-US" sz="1600" dirty="0"/>
          </a:p>
          <a:p>
            <a:pPr marL="0" indent="0">
              <a:buNone/>
            </a:pPr>
            <a:r>
              <a:rPr lang="en-US" sz="1300" dirty="0">
                <a:solidFill>
                  <a:srgbClr val="AFC9CE"/>
                </a:solidFill>
                <a:latin typeface="Calibri" pitchFamily="34" charset="0"/>
                <a:ea typeface="Calibri" pitchFamily="34" charset="-122"/>
                <a:cs typeface="Calibri" pitchFamily="34" charset="-120"/>
              </a:rPr>
              <a:t>Escuela de Ciencias de la Computación e Informática · Universidad de Costa Rica</a:t>
            </a:r>
            <a:endParaRPr lang="en-US" sz="1600" dirty="0"/>
          </a:p>
        </p:txBody>
      </p:sp>
      <p:sp>
        <p:nvSpPr>
          <p:cNvPr id="8" name="Text 6"/>
          <p:cNvSpPr/>
          <p:nvPr/>
        </p:nvSpPr>
        <p:spPr>
          <a:xfrm>
            <a:off x="731520" y="5212080"/>
            <a:ext cx="10058400" cy="365760"/>
          </a:xfrm>
          <a:prstGeom prst="rect">
            <a:avLst/>
          </a:prstGeom>
          <a:noFill/>
          <a:ln/>
        </p:spPr>
        <p:txBody>
          <a:bodyPr wrap="square" lIns="0" tIns="0" rIns="0" bIns="0" rtlCol="0" anchor="ctr"/>
          <a:lstStyle/>
          <a:p>
            <a:pPr marL="0" indent="0">
              <a:buNone/>
            </a:pPr>
            <a:r>
              <a:rPr lang="en-US" sz="1300" dirty="0">
                <a:solidFill>
                  <a:srgbClr val="8FB0B6"/>
                </a:solidFill>
                <a:latin typeface="Calibri" pitchFamily="34" charset="0"/>
                <a:ea typeface="Calibri" pitchFamily="34" charset="-122"/>
                <a:cs typeface="Calibri" pitchFamily="34" charset="-120"/>
              </a:rPr>
              <a:t>PF-3311 Agentes Virtuales Inteligentes · I Ciclo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PROBLEMA Y MOTIVACIÓN</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El RAG responde bien… pero en texto plano</a:t>
            </a:r>
            <a:endParaRPr lang="en-US" sz="3000" dirty="0"/>
          </a:p>
        </p:txBody>
      </p:sp>
      <p:sp>
        <p:nvSpPr>
          <p:cNvPr id="4" name="Text 2"/>
          <p:cNvSpPr/>
          <p:nvPr/>
        </p:nvSpPr>
        <p:spPr>
          <a:xfrm>
            <a:off x="502920" y="1691640"/>
            <a:ext cx="6583680" cy="3291840"/>
          </a:xfrm>
          <a:prstGeom prst="rect">
            <a:avLst/>
          </a:prstGeom>
          <a:noFill/>
          <a:ln/>
        </p:spPr>
        <p:txBody>
          <a:bodyPr wrap="square" rtlCol="0" anchor="t"/>
          <a:lstStyle/>
          <a:p>
            <a:pPr marL="342900" indent="-342900">
              <a:spcAft>
                <a:spcPts val="1000"/>
              </a:spcAft>
              <a:buSzPct val="100000"/>
              <a:buChar char="•"/>
            </a:pPr>
            <a:r>
              <a:rPr lang="en-US" sz="1700" dirty="0">
                <a:solidFill>
                  <a:srgbClr val="1E2A32"/>
                </a:solidFill>
                <a:latin typeface="Calibri" pitchFamily="34" charset="0"/>
                <a:ea typeface="Calibri" pitchFamily="34" charset="-122"/>
                <a:cs typeface="Calibri" pitchFamily="34" charset="-120"/>
              </a:rPr>
              <a:t>Los sistemas RAG conectan colecciones documentales con un LLM y dan respuestas fundamentadas y verificables.</a:t>
            </a:r>
            <a:endParaRPr lang="en-US" sz="1700" dirty="0"/>
          </a:p>
          <a:p>
            <a:pPr marL="342900" indent="-342900">
              <a:spcAft>
                <a:spcPts val="1000"/>
              </a:spcAft>
              <a:buSzPct val="100000"/>
              <a:buChar char="•"/>
            </a:pPr>
            <a:r>
              <a:rPr lang="en-US" sz="1700" dirty="0">
                <a:solidFill>
                  <a:srgbClr val="1E2A32"/>
                </a:solidFill>
                <a:latin typeface="Calibri" pitchFamily="34" charset="0"/>
                <a:ea typeface="Calibri" pitchFamily="34" charset="-122"/>
                <a:cs typeface="Calibri" pitchFamily="34" charset="-120"/>
              </a:rPr>
              <a:t>Pero casi siempre presentan la respuesta como texto, igual que un chat tradicional.</a:t>
            </a:r>
            <a:endParaRPr lang="en-US" sz="1700" dirty="0"/>
          </a:p>
          <a:p>
            <a:pPr marL="342900" indent="-342900">
              <a:spcAft>
                <a:spcPts val="1000"/>
              </a:spcAft>
              <a:buSzPct val="100000"/>
              <a:buChar char="•"/>
            </a:pPr>
            <a:r>
              <a:rPr lang="en-US" sz="1700" dirty="0">
                <a:solidFill>
                  <a:srgbClr val="1E2A32"/>
                </a:solidFill>
                <a:latin typeface="Calibri" pitchFamily="34" charset="0"/>
                <a:ea typeface="Calibri" pitchFamily="34" charset="-122"/>
                <a:cs typeface="Calibri" pitchFamily="34" charset="-120"/>
              </a:rPr>
              <a:t>La literatura de HCI sugiere que un agente corporizado podría mejorar la confianza y la naturalidad…</a:t>
            </a:r>
            <a:endParaRPr lang="en-US" sz="1700" dirty="0"/>
          </a:p>
          <a:p>
            <a:pPr marL="342900" indent="-342900">
              <a:buSzPct val="100000"/>
              <a:buChar char="•"/>
            </a:pPr>
            <a:r>
              <a:rPr lang="en-US" sz="1700" dirty="0">
                <a:solidFill>
                  <a:srgbClr val="1E2A32"/>
                </a:solidFill>
                <a:latin typeface="Calibri" pitchFamily="34" charset="0"/>
                <a:ea typeface="Calibri" pitchFamily="34" charset="-122"/>
                <a:cs typeface="Calibri" pitchFamily="34" charset="-120"/>
              </a:rPr>
              <a:t>…pero la evidencia en RAG documental es escasa, y no es obvio que un cuerpo ayude en una tarea cuyo valor es la precisión factual.</a:t>
            </a:r>
            <a:endParaRPr lang="en-US" sz="1700" dirty="0"/>
          </a:p>
        </p:txBody>
      </p:sp>
      <p:sp>
        <p:nvSpPr>
          <p:cNvPr id="5" name="Shape 3"/>
          <p:cNvSpPr/>
          <p:nvPr/>
        </p:nvSpPr>
        <p:spPr>
          <a:xfrm>
            <a:off x="7498080" y="1783080"/>
            <a:ext cx="4160520" cy="3154680"/>
          </a:xfrm>
          <a:prstGeom prst="roundRect">
            <a:avLst>
              <a:gd name="adj" fmla="val 3478"/>
            </a:avLst>
          </a:prstGeom>
          <a:solidFill>
            <a:srgbClr val="0E2A38"/>
          </a:solidFill>
          <a:ln/>
          <a:effectLst>
            <a:outerShdw blurRad="88900" dist="38100" dir="5400000" algn="bl" rotWithShape="0">
              <a:srgbClr val="000000">
                <a:alpha val="13000"/>
              </a:srgbClr>
            </a:outerShdw>
          </a:effectLst>
        </p:spPr>
        <p:txBody>
          <a:bodyPr/>
          <a:lstStyle/>
          <a:p>
            <a:endParaRPr lang="es-CR"/>
          </a:p>
        </p:txBody>
      </p:sp>
      <p:sp>
        <p:nvSpPr>
          <p:cNvPr id="6" name="Text 4"/>
          <p:cNvSpPr/>
          <p:nvPr/>
        </p:nvSpPr>
        <p:spPr>
          <a:xfrm>
            <a:off x="7772400" y="2011680"/>
            <a:ext cx="3657600" cy="365760"/>
          </a:xfrm>
          <a:prstGeom prst="rect">
            <a:avLst/>
          </a:prstGeom>
          <a:noFill/>
          <a:ln/>
        </p:spPr>
        <p:txBody>
          <a:bodyPr wrap="square" lIns="0" tIns="0" rIns="0" bIns="0" rtlCol="0" anchor="ctr"/>
          <a:lstStyle/>
          <a:p>
            <a:pPr marL="0" indent="0">
              <a:buNone/>
            </a:pPr>
            <a:r>
              <a:rPr lang="en-US" sz="1300" b="1" kern="0" spc="200" dirty="0">
                <a:solidFill>
                  <a:srgbClr val="1FB6A6"/>
                </a:solidFill>
                <a:latin typeface="Calibri" pitchFamily="34" charset="0"/>
                <a:ea typeface="Calibri" pitchFamily="34" charset="-122"/>
                <a:cs typeface="Calibri" pitchFamily="34" charset="-120"/>
              </a:rPr>
              <a:t>Pregunta central</a:t>
            </a:r>
            <a:endParaRPr lang="en-US" sz="1300" dirty="0"/>
          </a:p>
        </p:txBody>
      </p:sp>
      <p:sp>
        <p:nvSpPr>
          <p:cNvPr id="7" name="Text 5"/>
          <p:cNvSpPr/>
          <p:nvPr/>
        </p:nvSpPr>
        <p:spPr>
          <a:xfrm>
            <a:off x="7772400" y="2423160"/>
            <a:ext cx="3611880" cy="2286000"/>
          </a:xfrm>
          <a:prstGeom prst="rect">
            <a:avLst/>
          </a:prstGeom>
          <a:noFill/>
          <a:ln/>
        </p:spPr>
        <p:txBody>
          <a:bodyPr wrap="square" lIns="0" tIns="0" rIns="0" bIns="0" rtlCol="0" anchor="t"/>
          <a:lstStyle/>
          <a:p>
            <a:pPr marL="0" indent="0">
              <a:buNone/>
            </a:pPr>
            <a:r>
              <a:rPr lang="en-US" sz="2100" i="1" dirty="0">
                <a:solidFill>
                  <a:srgbClr val="FFFFFF"/>
                </a:solidFill>
                <a:latin typeface="Cambria" pitchFamily="34" charset="0"/>
                <a:ea typeface="Cambria" pitchFamily="34" charset="-122"/>
                <a:cs typeface="Cambria" pitchFamily="34" charset="-120"/>
              </a:rPr>
              <a:t>¿El cuerpo y la voz de un AVC cambian cómo el usuario percibe las respuestas de un RAG, frente a una interfaz textual equivalente?</a:t>
            </a:r>
            <a:endParaRPr lang="en-US" sz="2100" dirty="0"/>
          </a:p>
        </p:txBody>
      </p:sp>
      <p:sp>
        <p:nvSpPr>
          <p:cNvPr id="8" name="Text 6"/>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9"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PREGUNTAS DE INVESTIGACIÓN</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Tres preguntas, una comparación: AVC vs. texto</a:t>
            </a:r>
            <a:endParaRPr lang="en-US" sz="3000" dirty="0"/>
          </a:p>
        </p:txBody>
      </p:sp>
      <p:sp>
        <p:nvSpPr>
          <p:cNvPr id="4" name="Shape 2"/>
          <p:cNvSpPr/>
          <p:nvPr/>
        </p:nvSpPr>
        <p:spPr>
          <a:xfrm>
            <a:off x="502920" y="1828800"/>
            <a:ext cx="3611880" cy="3108960"/>
          </a:xfrm>
          <a:prstGeom prst="roundRect">
            <a:avLst>
              <a:gd name="adj" fmla="val 3529"/>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5" name="Shape 3"/>
          <p:cNvSpPr/>
          <p:nvPr/>
        </p:nvSpPr>
        <p:spPr>
          <a:xfrm>
            <a:off x="822960" y="2148840"/>
            <a:ext cx="502920" cy="502920"/>
          </a:xfrm>
          <a:prstGeom prst="ellipse">
            <a:avLst/>
          </a:prstGeom>
          <a:solidFill>
            <a:srgbClr val="0E7C86"/>
          </a:solidFill>
          <a:ln/>
          <a:effectLst>
            <a:outerShdw blurRad="88900" dist="38100" dir="5400000" algn="bl" rotWithShape="0">
              <a:srgbClr val="000000">
                <a:alpha val="13000"/>
              </a:srgbClr>
            </a:outerShdw>
          </a:effectLst>
        </p:spPr>
        <p:txBody>
          <a:bodyPr/>
          <a:lstStyle/>
          <a:p>
            <a:endParaRPr lang="es-CR"/>
          </a:p>
        </p:txBody>
      </p:sp>
      <p:sp>
        <p:nvSpPr>
          <p:cNvPr id="6" name="Text 4"/>
          <p:cNvSpPr/>
          <p:nvPr/>
        </p:nvSpPr>
        <p:spPr>
          <a:xfrm>
            <a:off x="82296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RQ1</a:t>
            </a:r>
            <a:endParaRPr lang="en-US" sz="1800" dirty="0"/>
          </a:p>
        </p:txBody>
      </p:sp>
      <p:sp>
        <p:nvSpPr>
          <p:cNvPr id="7" name="Text 5"/>
          <p:cNvSpPr/>
          <p:nvPr/>
        </p:nvSpPr>
        <p:spPr>
          <a:xfrm>
            <a:off x="822960" y="2834640"/>
            <a:ext cx="3017520" cy="640080"/>
          </a:xfrm>
          <a:prstGeom prst="rect">
            <a:avLst/>
          </a:prstGeom>
          <a:noFill/>
          <a:ln/>
        </p:spPr>
        <p:txBody>
          <a:bodyPr wrap="square" lIns="0" tIns="0" rIns="0" bIns="0" rtlCol="0" anchor="ctr"/>
          <a:lstStyle/>
          <a:p>
            <a:pPr marL="0" indent="0">
              <a:buNone/>
            </a:pPr>
            <a:r>
              <a:rPr lang="en-US" sz="2000" b="1" dirty="0">
                <a:solidFill>
                  <a:srgbClr val="1E2A32"/>
                </a:solidFill>
                <a:latin typeface="Cambria" pitchFamily="34" charset="0"/>
                <a:ea typeface="Cambria" pitchFamily="34" charset="-122"/>
                <a:cs typeface="Cambria" pitchFamily="34" charset="-120"/>
              </a:rPr>
              <a:t>Confianza percibida</a:t>
            </a:r>
            <a:endParaRPr lang="en-US" sz="2000" dirty="0"/>
          </a:p>
        </p:txBody>
      </p:sp>
      <p:sp>
        <p:nvSpPr>
          <p:cNvPr id="8" name="Text 6"/>
          <p:cNvSpPr/>
          <p:nvPr/>
        </p:nvSpPr>
        <p:spPr>
          <a:xfrm>
            <a:off x="822960" y="3520440"/>
            <a:ext cx="3063240" cy="1280160"/>
          </a:xfrm>
          <a:prstGeom prst="rect">
            <a:avLst/>
          </a:prstGeom>
          <a:noFill/>
          <a:ln/>
        </p:spPr>
        <p:txBody>
          <a:bodyPr wrap="square" lIns="0" tIns="0" rIns="0" bIns="0" rtlCol="0" anchor="t"/>
          <a:lstStyle/>
          <a:p>
            <a:pPr marL="0" indent="0">
              <a:buNone/>
            </a:pPr>
            <a:r>
              <a:rPr lang="en-US" sz="1500" dirty="0">
                <a:solidFill>
                  <a:srgbClr val="5C7079"/>
                </a:solidFill>
                <a:latin typeface="Calibri" pitchFamily="34" charset="0"/>
                <a:ea typeface="Calibri" pitchFamily="34" charset="-122"/>
                <a:cs typeface="Calibri" pitchFamily="34" charset="-120"/>
              </a:rPr>
              <a:t>¿El AVC cambia la confianza en las respuestas frente a una interfaz textual?</a:t>
            </a:r>
            <a:endParaRPr lang="en-US" sz="1500" dirty="0"/>
          </a:p>
        </p:txBody>
      </p:sp>
      <p:sp>
        <p:nvSpPr>
          <p:cNvPr id="9" name="Shape 7"/>
          <p:cNvSpPr/>
          <p:nvPr/>
        </p:nvSpPr>
        <p:spPr>
          <a:xfrm>
            <a:off x="4297680" y="1828800"/>
            <a:ext cx="3611880" cy="3108960"/>
          </a:xfrm>
          <a:prstGeom prst="roundRect">
            <a:avLst>
              <a:gd name="adj" fmla="val 3529"/>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10" name="Shape 8"/>
          <p:cNvSpPr/>
          <p:nvPr/>
        </p:nvSpPr>
        <p:spPr>
          <a:xfrm>
            <a:off x="4617720" y="2148840"/>
            <a:ext cx="502920" cy="502920"/>
          </a:xfrm>
          <a:prstGeom prst="ellipse">
            <a:avLst/>
          </a:prstGeom>
          <a:solidFill>
            <a:srgbClr val="0A5A62"/>
          </a:solidFill>
          <a:ln/>
          <a:effectLst>
            <a:outerShdw blurRad="88900" dist="38100" dir="5400000" algn="bl" rotWithShape="0">
              <a:srgbClr val="000000">
                <a:alpha val="13000"/>
              </a:srgbClr>
            </a:outerShdw>
          </a:effectLst>
        </p:spPr>
        <p:txBody>
          <a:bodyPr/>
          <a:lstStyle/>
          <a:p>
            <a:endParaRPr lang="es-CR"/>
          </a:p>
        </p:txBody>
      </p:sp>
      <p:sp>
        <p:nvSpPr>
          <p:cNvPr id="11" name="Text 9"/>
          <p:cNvSpPr/>
          <p:nvPr/>
        </p:nvSpPr>
        <p:spPr>
          <a:xfrm>
            <a:off x="461772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RQ2</a:t>
            </a:r>
            <a:endParaRPr lang="en-US" sz="1800" dirty="0"/>
          </a:p>
        </p:txBody>
      </p:sp>
      <p:sp>
        <p:nvSpPr>
          <p:cNvPr id="12" name="Text 10"/>
          <p:cNvSpPr/>
          <p:nvPr/>
        </p:nvSpPr>
        <p:spPr>
          <a:xfrm>
            <a:off x="4617720" y="2834640"/>
            <a:ext cx="3017520" cy="640080"/>
          </a:xfrm>
          <a:prstGeom prst="rect">
            <a:avLst/>
          </a:prstGeom>
          <a:noFill/>
          <a:ln/>
        </p:spPr>
        <p:txBody>
          <a:bodyPr wrap="square" lIns="0" tIns="0" rIns="0" bIns="0" rtlCol="0" anchor="ctr"/>
          <a:lstStyle/>
          <a:p>
            <a:pPr marL="0" indent="0">
              <a:buNone/>
            </a:pPr>
            <a:r>
              <a:rPr lang="en-US" sz="2000" b="1" dirty="0">
                <a:solidFill>
                  <a:srgbClr val="1E2A32"/>
                </a:solidFill>
                <a:latin typeface="Cambria" pitchFamily="34" charset="0"/>
                <a:ea typeface="Cambria" pitchFamily="34" charset="-122"/>
                <a:cs typeface="Cambria" pitchFamily="34" charset="-120"/>
              </a:rPr>
              <a:t>Naturalidad e inteligencia</a:t>
            </a:r>
            <a:endParaRPr lang="en-US" sz="2000" dirty="0"/>
          </a:p>
        </p:txBody>
      </p:sp>
      <p:sp>
        <p:nvSpPr>
          <p:cNvPr id="13" name="Text 11"/>
          <p:cNvSpPr/>
          <p:nvPr/>
        </p:nvSpPr>
        <p:spPr>
          <a:xfrm>
            <a:off x="4617720" y="3520440"/>
            <a:ext cx="3063240" cy="1280160"/>
          </a:xfrm>
          <a:prstGeom prst="rect">
            <a:avLst/>
          </a:prstGeom>
          <a:noFill/>
          <a:ln/>
        </p:spPr>
        <p:txBody>
          <a:bodyPr wrap="square" lIns="0" tIns="0" rIns="0" bIns="0" rtlCol="0" anchor="t"/>
          <a:lstStyle/>
          <a:p>
            <a:pPr marL="0" indent="0">
              <a:buNone/>
            </a:pPr>
            <a:r>
              <a:rPr lang="en-US" sz="1500" dirty="0">
                <a:solidFill>
                  <a:srgbClr val="5C7079"/>
                </a:solidFill>
                <a:latin typeface="Calibri" pitchFamily="34" charset="0"/>
                <a:ea typeface="Calibri" pitchFamily="34" charset="-122"/>
                <a:cs typeface="Calibri" pitchFamily="34" charset="-120"/>
              </a:rPr>
              <a:t>¿Afecta la naturalidad percibida y la comprensión en tareas de consulta?</a:t>
            </a:r>
            <a:endParaRPr lang="en-US" sz="1500" dirty="0"/>
          </a:p>
        </p:txBody>
      </p:sp>
      <p:sp>
        <p:nvSpPr>
          <p:cNvPr id="14" name="Shape 12"/>
          <p:cNvSpPr/>
          <p:nvPr/>
        </p:nvSpPr>
        <p:spPr>
          <a:xfrm>
            <a:off x="8092440" y="1828800"/>
            <a:ext cx="3611880" cy="3108960"/>
          </a:xfrm>
          <a:prstGeom prst="roundRect">
            <a:avLst>
              <a:gd name="adj" fmla="val 3529"/>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15" name="Shape 13"/>
          <p:cNvSpPr/>
          <p:nvPr/>
        </p:nvSpPr>
        <p:spPr>
          <a:xfrm>
            <a:off x="8412480" y="2148840"/>
            <a:ext cx="502920" cy="502920"/>
          </a:xfrm>
          <a:prstGeom prst="ellipse">
            <a:avLst/>
          </a:prstGeom>
          <a:solidFill>
            <a:srgbClr val="1FB6A6"/>
          </a:solidFill>
          <a:ln/>
          <a:effectLst>
            <a:outerShdw blurRad="88900" dist="38100" dir="5400000" algn="bl" rotWithShape="0">
              <a:srgbClr val="000000">
                <a:alpha val="13000"/>
              </a:srgbClr>
            </a:outerShdw>
          </a:effectLst>
        </p:spPr>
        <p:txBody>
          <a:bodyPr/>
          <a:lstStyle/>
          <a:p>
            <a:endParaRPr lang="es-CR"/>
          </a:p>
        </p:txBody>
      </p:sp>
      <p:sp>
        <p:nvSpPr>
          <p:cNvPr id="16" name="Text 14"/>
          <p:cNvSpPr/>
          <p:nvPr/>
        </p:nvSpPr>
        <p:spPr>
          <a:xfrm>
            <a:off x="841248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RQ3</a:t>
            </a:r>
            <a:endParaRPr lang="en-US" sz="1800" dirty="0"/>
          </a:p>
        </p:txBody>
      </p:sp>
      <p:sp>
        <p:nvSpPr>
          <p:cNvPr id="17" name="Text 15"/>
          <p:cNvSpPr/>
          <p:nvPr/>
        </p:nvSpPr>
        <p:spPr>
          <a:xfrm>
            <a:off x="8412480" y="2834640"/>
            <a:ext cx="3017520" cy="640080"/>
          </a:xfrm>
          <a:prstGeom prst="rect">
            <a:avLst/>
          </a:prstGeom>
          <a:noFill/>
          <a:ln/>
        </p:spPr>
        <p:txBody>
          <a:bodyPr wrap="square" lIns="0" tIns="0" rIns="0" bIns="0" rtlCol="0" anchor="ctr"/>
          <a:lstStyle/>
          <a:p>
            <a:pPr marL="0" indent="0">
              <a:buNone/>
            </a:pPr>
            <a:r>
              <a:rPr lang="en-US" sz="2000" b="1" dirty="0">
                <a:solidFill>
                  <a:srgbClr val="1E2A32"/>
                </a:solidFill>
                <a:latin typeface="Cambria" pitchFamily="34" charset="0"/>
                <a:ea typeface="Cambria" pitchFamily="34" charset="-122"/>
                <a:cs typeface="Cambria" pitchFamily="34" charset="-120"/>
              </a:rPr>
              <a:t>Usabilidad y retención</a:t>
            </a:r>
            <a:endParaRPr lang="en-US" sz="2000" dirty="0"/>
          </a:p>
        </p:txBody>
      </p:sp>
      <p:sp>
        <p:nvSpPr>
          <p:cNvPr id="18" name="Text 16"/>
          <p:cNvSpPr/>
          <p:nvPr/>
        </p:nvSpPr>
        <p:spPr>
          <a:xfrm>
            <a:off x="8412480" y="3520440"/>
            <a:ext cx="3063240" cy="1280160"/>
          </a:xfrm>
          <a:prstGeom prst="rect">
            <a:avLst/>
          </a:prstGeom>
          <a:noFill/>
          <a:ln/>
        </p:spPr>
        <p:txBody>
          <a:bodyPr wrap="square" lIns="0" tIns="0" rIns="0" bIns="0" rtlCol="0" anchor="t"/>
          <a:lstStyle/>
          <a:p>
            <a:pPr marL="0" indent="0">
              <a:buNone/>
            </a:pPr>
            <a:r>
              <a:rPr lang="en-US" sz="1500" dirty="0">
                <a:solidFill>
                  <a:srgbClr val="5C7079"/>
                </a:solidFill>
                <a:latin typeface="Calibri" pitchFamily="34" charset="0"/>
                <a:ea typeface="Calibri" pitchFamily="34" charset="-122"/>
                <a:cs typeface="Calibri" pitchFamily="34" charset="-120"/>
              </a:rPr>
              <a:t>¿Cambia la usabilidad percibida y la retención de información?</a:t>
            </a:r>
            <a:endParaRPr lang="en-US" sz="1500" dirty="0"/>
          </a:p>
        </p:txBody>
      </p:sp>
      <p:sp>
        <p:nvSpPr>
          <p:cNvPr id="19" name="Text 17"/>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EL AGENTE</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Ariel: AVC web-nativo sobre un RAG</a:t>
            </a:r>
            <a:endParaRPr lang="en-US" sz="3000" dirty="0"/>
          </a:p>
        </p:txBody>
      </p:sp>
      <p:sp>
        <p:nvSpPr>
          <p:cNvPr id="4" name="Shape 2"/>
          <p:cNvSpPr/>
          <p:nvPr/>
        </p:nvSpPr>
        <p:spPr>
          <a:xfrm>
            <a:off x="502920" y="1801368"/>
            <a:ext cx="310896" cy="310896"/>
          </a:xfrm>
          <a:prstGeom prst="ellipse">
            <a:avLst/>
          </a:prstGeom>
          <a:solidFill>
            <a:srgbClr val="0E7C86"/>
          </a:solidFill>
          <a:ln/>
        </p:spPr>
        <p:txBody>
          <a:bodyPr/>
          <a:lstStyle/>
          <a:p>
            <a:endParaRPr lang="es-CR"/>
          </a:p>
        </p:txBody>
      </p:sp>
      <p:sp>
        <p:nvSpPr>
          <p:cNvPr id="5" name="Text 3"/>
          <p:cNvSpPr/>
          <p:nvPr/>
        </p:nvSpPr>
        <p:spPr>
          <a:xfrm>
            <a:off x="960120" y="1737360"/>
            <a:ext cx="5852160" cy="365760"/>
          </a:xfrm>
          <a:prstGeom prst="rect">
            <a:avLst/>
          </a:prstGeom>
          <a:noFill/>
          <a:ln/>
        </p:spPr>
        <p:txBody>
          <a:bodyPr wrap="square" lIns="0" tIns="0" rIns="0" bIns="0" rtlCol="0" anchor="ctr"/>
          <a:lstStyle/>
          <a:p>
            <a:pPr marL="0" indent="0">
              <a:buNone/>
            </a:pPr>
            <a:r>
              <a:rPr lang="en-US" sz="1700" b="1" dirty="0">
                <a:solidFill>
                  <a:srgbClr val="1E2A32"/>
                </a:solidFill>
                <a:latin typeface="Cambria" pitchFamily="34" charset="0"/>
                <a:ea typeface="Cambria" pitchFamily="34" charset="-122"/>
                <a:cs typeface="Cambria" pitchFamily="34" charset="-120"/>
              </a:rPr>
              <a:t>Avatar 3D (front end)</a:t>
            </a:r>
            <a:endParaRPr lang="en-US" sz="1700" dirty="0"/>
          </a:p>
        </p:txBody>
      </p:sp>
      <p:sp>
        <p:nvSpPr>
          <p:cNvPr id="6" name="Text 4"/>
          <p:cNvSpPr/>
          <p:nvPr/>
        </p:nvSpPr>
        <p:spPr>
          <a:xfrm>
            <a:off x="960120" y="2084832"/>
            <a:ext cx="5943600" cy="713232"/>
          </a:xfrm>
          <a:prstGeom prst="rect">
            <a:avLst/>
          </a:prstGeom>
          <a:noFill/>
          <a:ln/>
        </p:spPr>
        <p:txBody>
          <a:bodyPr wrap="square" lIns="0" tIns="0" rIns="0" bIns="0" rtlCol="0" anchor="t"/>
          <a:lstStyle/>
          <a:p>
            <a:pPr marL="0" indent="0">
              <a:buNone/>
            </a:pPr>
            <a:r>
              <a:rPr lang="en-US" sz="1350" dirty="0">
                <a:solidFill>
                  <a:srgbClr val="5C7079"/>
                </a:solidFill>
                <a:latin typeface="Calibri" pitchFamily="34" charset="0"/>
                <a:ea typeface="Calibri" pitchFamily="34" charset="-122"/>
                <a:cs typeface="Calibri" pitchFamily="34" charset="-120"/>
              </a:rPr>
              <a:t>Three.js + @pixiv/three-vrm en el navegador; pose natural, idle, parpadeo y lip-sync simulado. Sin motor externo.</a:t>
            </a:r>
            <a:endParaRPr lang="en-US" sz="1350" dirty="0"/>
          </a:p>
        </p:txBody>
      </p:sp>
      <p:sp>
        <p:nvSpPr>
          <p:cNvPr id="7" name="Shape 5"/>
          <p:cNvSpPr/>
          <p:nvPr/>
        </p:nvSpPr>
        <p:spPr>
          <a:xfrm>
            <a:off x="502920" y="2880360"/>
            <a:ext cx="310896" cy="310896"/>
          </a:xfrm>
          <a:prstGeom prst="ellipse">
            <a:avLst/>
          </a:prstGeom>
          <a:solidFill>
            <a:srgbClr val="0A5A62"/>
          </a:solidFill>
          <a:ln/>
        </p:spPr>
        <p:txBody>
          <a:bodyPr/>
          <a:lstStyle/>
          <a:p>
            <a:endParaRPr lang="es-CR"/>
          </a:p>
        </p:txBody>
      </p:sp>
      <p:sp>
        <p:nvSpPr>
          <p:cNvPr id="8" name="Text 6"/>
          <p:cNvSpPr/>
          <p:nvPr/>
        </p:nvSpPr>
        <p:spPr>
          <a:xfrm>
            <a:off x="960120" y="2816352"/>
            <a:ext cx="5852160" cy="365760"/>
          </a:xfrm>
          <a:prstGeom prst="rect">
            <a:avLst/>
          </a:prstGeom>
          <a:noFill/>
          <a:ln/>
        </p:spPr>
        <p:txBody>
          <a:bodyPr wrap="square" lIns="0" tIns="0" rIns="0" bIns="0" rtlCol="0" anchor="ctr"/>
          <a:lstStyle/>
          <a:p>
            <a:pPr marL="0" indent="0">
              <a:buNone/>
            </a:pPr>
            <a:r>
              <a:rPr lang="en-US" sz="1700" b="1" dirty="0">
                <a:solidFill>
                  <a:srgbClr val="1E2A32"/>
                </a:solidFill>
                <a:latin typeface="Cambria" pitchFamily="34" charset="0"/>
                <a:ea typeface="Cambria" pitchFamily="34" charset="-122"/>
                <a:cs typeface="Cambria" pitchFamily="34" charset="-120"/>
              </a:rPr>
              <a:t>Pipeline RAG (back end)</a:t>
            </a:r>
            <a:endParaRPr lang="en-US" sz="1700" dirty="0"/>
          </a:p>
        </p:txBody>
      </p:sp>
      <p:sp>
        <p:nvSpPr>
          <p:cNvPr id="9" name="Text 7"/>
          <p:cNvSpPr/>
          <p:nvPr/>
        </p:nvSpPr>
        <p:spPr>
          <a:xfrm>
            <a:off x="960120" y="3163824"/>
            <a:ext cx="5943600" cy="713232"/>
          </a:xfrm>
          <a:prstGeom prst="rect">
            <a:avLst/>
          </a:prstGeom>
          <a:noFill/>
          <a:ln/>
        </p:spPr>
        <p:txBody>
          <a:bodyPr wrap="square" lIns="0" tIns="0" rIns="0" bIns="0" rtlCol="0" anchor="t"/>
          <a:lstStyle/>
          <a:p>
            <a:pPr marL="0" indent="0">
              <a:buNone/>
            </a:pPr>
            <a:r>
              <a:rPr lang="en-US" sz="1350" dirty="0">
                <a:solidFill>
                  <a:srgbClr val="5C7079"/>
                </a:solidFill>
                <a:latin typeface="Calibri" pitchFamily="34" charset="0"/>
                <a:ea typeface="Calibri" pitchFamily="34" charset="-122"/>
                <a:cs typeface="Calibri" pitchFamily="34" charset="-120"/>
              </a:rPr>
              <a:t>Node/Express + Firebase Functions + OpenAI GPT-4.1-nano: recuperación semántica y generación sobre el expediente.</a:t>
            </a:r>
            <a:endParaRPr lang="en-US" sz="1350" dirty="0"/>
          </a:p>
        </p:txBody>
      </p:sp>
      <p:sp>
        <p:nvSpPr>
          <p:cNvPr id="10" name="Shape 8"/>
          <p:cNvSpPr/>
          <p:nvPr/>
        </p:nvSpPr>
        <p:spPr>
          <a:xfrm>
            <a:off x="502920" y="3959352"/>
            <a:ext cx="310896" cy="310896"/>
          </a:xfrm>
          <a:prstGeom prst="ellipse">
            <a:avLst/>
          </a:prstGeom>
          <a:solidFill>
            <a:srgbClr val="0E7C86"/>
          </a:solidFill>
          <a:ln/>
        </p:spPr>
        <p:txBody>
          <a:bodyPr/>
          <a:lstStyle/>
          <a:p>
            <a:endParaRPr lang="es-CR"/>
          </a:p>
        </p:txBody>
      </p:sp>
      <p:sp>
        <p:nvSpPr>
          <p:cNvPr id="11" name="Text 9"/>
          <p:cNvSpPr/>
          <p:nvPr/>
        </p:nvSpPr>
        <p:spPr>
          <a:xfrm>
            <a:off x="960120" y="3895344"/>
            <a:ext cx="5852160" cy="365760"/>
          </a:xfrm>
          <a:prstGeom prst="rect">
            <a:avLst/>
          </a:prstGeom>
          <a:noFill/>
          <a:ln/>
        </p:spPr>
        <p:txBody>
          <a:bodyPr wrap="square" lIns="0" tIns="0" rIns="0" bIns="0" rtlCol="0" anchor="ctr"/>
          <a:lstStyle/>
          <a:p>
            <a:pPr marL="0" indent="0">
              <a:buNone/>
            </a:pPr>
            <a:r>
              <a:rPr lang="en-US" sz="1700" b="1" dirty="0">
                <a:solidFill>
                  <a:srgbClr val="1E2A32"/>
                </a:solidFill>
                <a:latin typeface="Cambria" pitchFamily="34" charset="0"/>
                <a:ea typeface="Cambria" pitchFamily="34" charset="-122"/>
                <a:cs typeface="Cambria" pitchFamily="34" charset="-120"/>
              </a:rPr>
              <a:t>Voz y emociones</a:t>
            </a:r>
            <a:endParaRPr lang="en-US" sz="1700" dirty="0"/>
          </a:p>
        </p:txBody>
      </p:sp>
      <p:sp>
        <p:nvSpPr>
          <p:cNvPr id="12" name="Text 10"/>
          <p:cNvSpPr/>
          <p:nvPr/>
        </p:nvSpPr>
        <p:spPr>
          <a:xfrm>
            <a:off x="960120" y="4242816"/>
            <a:ext cx="5943600" cy="713232"/>
          </a:xfrm>
          <a:prstGeom prst="rect">
            <a:avLst/>
          </a:prstGeom>
          <a:noFill/>
          <a:ln/>
        </p:spPr>
        <p:txBody>
          <a:bodyPr wrap="square" lIns="0" tIns="0" rIns="0" bIns="0" rtlCol="0" anchor="t"/>
          <a:lstStyle/>
          <a:p>
            <a:pPr marL="0" indent="0">
              <a:buNone/>
            </a:pPr>
            <a:r>
              <a:rPr lang="en-US" sz="1350" dirty="0">
                <a:solidFill>
                  <a:srgbClr val="5C7079"/>
                </a:solidFill>
                <a:latin typeface="Calibri" pitchFamily="34" charset="0"/>
                <a:ea typeface="Calibri" pitchFamily="34" charset="-122"/>
                <a:cs typeface="Calibri" pitchFamily="34" charset="-120"/>
              </a:rPr>
              <a:t>Web Speech API para TTS/STT; el LLM controla expresiones emocionales del avatar.</a:t>
            </a:r>
            <a:endParaRPr lang="en-US" sz="1350" dirty="0"/>
          </a:p>
        </p:txBody>
      </p:sp>
      <p:sp>
        <p:nvSpPr>
          <p:cNvPr id="13" name="Shape 11"/>
          <p:cNvSpPr/>
          <p:nvPr/>
        </p:nvSpPr>
        <p:spPr>
          <a:xfrm>
            <a:off x="502920" y="5038344"/>
            <a:ext cx="310896" cy="310896"/>
          </a:xfrm>
          <a:prstGeom prst="ellipse">
            <a:avLst/>
          </a:prstGeom>
          <a:solidFill>
            <a:srgbClr val="0A5A62"/>
          </a:solidFill>
          <a:ln/>
        </p:spPr>
        <p:txBody>
          <a:bodyPr/>
          <a:lstStyle/>
          <a:p>
            <a:endParaRPr lang="es-CR"/>
          </a:p>
        </p:txBody>
      </p:sp>
      <p:sp>
        <p:nvSpPr>
          <p:cNvPr id="14" name="Text 12"/>
          <p:cNvSpPr/>
          <p:nvPr/>
        </p:nvSpPr>
        <p:spPr>
          <a:xfrm>
            <a:off x="960120" y="4974336"/>
            <a:ext cx="5852160" cy="365760"/>
          </a:xfrm>
          <a:prstGeom prst="rect">
            <a:avLst/>
          </a:prstGeom>
          <a:noFill/>
          <a:ln/>
        </p:spPr>
        <p:txBody>
          <a:bodyPr wrap="square" lIns="0" tIns="0" rIns="0" bIns="0" rtlCol="0" anchor="ctr"/>
          <a:lstStyle/>
          <a:p>
            <a:pPr marL="0" indent="0">
              <a:buNone/>
            </a:pPr>
            <a:r>
              <a:rPr lang="en-US" sz="1700" b="1" dirty="0">
                <a:solidFill>
                  <a:srgbClr val="1E2A32"/>
                </a:solidFill>
                <a:latin typeface="Cambria" pitchFamily="34" charset="0"/>
                <a:ea typeface="Cambria" pitchFamily="34" charset="-122"/>
                <a:cs typeface="Cambria" pitchFamily="34" charset="-120"/>
              </a:rPr>
              <a:t>Toggle de modo</a:t>
            </a:r>
            <a:endParaRPr lang="en-US" sz="1700" dirty="0"/>
          </a:p>
        </p:txBody>
      </p:sp>
      <p:sp>
        <p:nvSpPr>
          <p:cNvPr id="15" name="Text 13"/>
          <p:cNvSpPr/>
          <p:nvPr/>
        </p:nvSpPr>
        <p:spPr>
          <a:xfrm>
            <a:off x="960120" y="5321808"/>
            <a:ext cx="5943600" cy="713232"/>
          </a:xfrm>
          <a:prstGeom prst="rect">
            <a:avLst/>
          </a:prstGeom>
          <a:noFill/>
          <a:ln/>
        </p:spPr>
        <p:txBody>
          <a:bodyPr wrap="square" lIns="0" tIns="0" rIns="0" bIns="0" rtlCol="0" anchor="t"/>
          <a:lstStyle/>
          <a:p>
            <a:pPr marL="0" indent="0">
              <a:buNone/>
            </a:pPr>
            <a:r>
              <a:rPr lang="en-US" sz="1350" dirty="0">
                <a:solidFill>
                  <a:srgbClr val="5C7079"/>
                </a:solidFill>
                <a:latin typeface="Calibri" pitchFamily="34" charset="0"/>
                <a:ea typeface="Calibri" pitchFamily="34" charset="-122"/>
                <a:cs typeface="Calibri" pitchFamily="34" charset="-120"/>
              </a:rPr>
              <a:t>Cambia entre Condición A (AVC) y B (texto): layout, avatar, voz y micrófono, sin recargar.</a:t>
            </a:r>
            <a:endParaRPr lang="en-US" sz="1350" dirty="0"/>
          </a:p>
        </p:txBody>
      </p:sp>
      <p:pic>
        <p:nvPicPr>
          <p:cNvPr id="16" name="Image 0" descr="ariel.png"/>
          <p:cNvPicPr>
            <a:picLocks noChangeAspect="1"/>
          </p:cNvPicPr>
          <p:nvPr/>
        </p:nvPicPr>
        <p:blipFill>
          <a:blip r:embed="rId3"/>
          <a:srcRect/>
          <a:stretch/>
        </p:blipFill>
        <p:spPr>
          <a:xfrm>
            <a:off x="7360920" y="1828800"/>
            <a:ext cx="4297680" cy="2679192"/>
          </a:xfrm>
          <a:prstGeom prst="rect">
            <a:avLst/>
          </a:prstGeom>
        </p:spPr>
      </p:pic>
      <p:sp>
        <p:nvSpPr>
          <p:cNvPr id="17" name="Text 14"/>
          <p:cNvSpPr/>
          <p:nvPr/>
        </p:nvSpPr>
        <p:spPr>
          <a:xfrm>
            <a:off x="7360920" y="4572000"/>
            <a:ext cx="4297680" cy="457200"/>
          </a:xfrm>
          <a:prstGeom prst="rect">
            <a:avLst/>
          </a:prstGeom>
          <a:noFill/>
          <a:ln/>
        </p:spPr>
        <p:txBody>
          <a:bodyPr wrap="square" lIns="0" tIns="0" rIns="0" bIns="0" rtlCol="0" anchor="ctr"/>
          <a:lstStyle/>
          <a:p>
            <a:pPr marL="0" indent="0" algn="ctr">
              <a:buNone/>
            </a:pPr>
            <a:r>
              <a:rPr lang="en-US" sz="1100" i="1" dirty="0">
                <a:solidFill>
                  <a:srgbClr val="5C7079"/>
                </a:solidFill>
                <a:latin typeface="Calibri" pitchFamily="34" charset="0"/>
                <a:ea typeface="Calibri" pitchFamily="34" charset="-122"/>
                <a:cs typeface="Calibri" pitchFamily="34" charset="-120"/>
              </a:rPr>
              <a:t>Ariel desplegado junto al visor del expediente (modo conversacional).</a:t>
            </a:r>
            <a:endParaRPr lang="en-US" sz="1100" dirty="0"/>
          </a:p>
        </p:txBody>
      </p:sp>
      <p:sp>
        <p:nvSpPr>
          <p:cNvPr id="18" name="Text 15"/>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19" name="Text 1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A38"/>
        </a:solidFill>
        <a:effectLst/>
      </p:bgPr>
    </p:bg>
    <p:spTree>
      <p:nvGrpSpPr>
        <p:cNvPr id="1" name=""/>
        <p:cNvGrpSpPr/>
        <p:nvPr/>
      </p:nvGrpSpPr>
      <p:grpSpPr>
        <a:xfrm>
          <a:off x="0" y="0"/>
          <a:ext cx="0" cy="0"/>
          <a:chOff x="0" y="0"/>
          <a:chExt cx="0" cy="0"/>
        </a:xfrm>
      </p:grpSpPr>
      <p:sp>
        <p:nvSpPr>
          <p:cNvPr id="2" name="Text 0"/>
          <p:cNvSpPr/>
          <p:nvPr/>
        </p:nvSpPr>
        <p:spPr>
          <a:xfrm>
            <a:off x="548640" y="457200"/>
            <a:ext cx="10058400" cy="365760"/>
          </a:xfrm>
          <a:prstGeom prst="rect">
            <a:avLst/>
          </a:prstGeom>
          <a:noFill/>
          <a:ln/>
        </p:spPr>
        <p:txBody>
          <a:bodyPr wrap="square" lIns="0" tIns="0" rIns="0" bIns="0" rtlCol="0" anchor="ctr"/>
          <a:lstStyle/>
          <a:p>
            <a:pPr marL="0" indent="0">
              <a:buNone/>
            </a:pPr>
            <a:r>
              <a:rPr lang="en-US" sz="1300" b="1" kern="0" spc="300" dirty="0">
                <a:solidFill>
                  <a:srgbClr val="1FB6A6"/>
                </a:solidFill>
                <a:latin typeface="Calibri" pitchFamily="34" charset="0"/>
                <a:ea typeface="Calibri" pitchFamily="34" charset="-122"/>
                <a:cs typeface="Calibri" pitchFamily="34" charset="-120"/>
              </a:rPr>
              <a:t>DEMOSTRACIÓN</a:t>
            </a:r>
            <a:endParaRPr lang="en-US" sz="1300" dirty="0"/>
          </a:p>
        </p:txBody>
      </p:sp>
      <p:sp>
        <p:nvSpPr>
          <p:cNvPr id="3" name="Text 1"/>
          <p:cNvSpPr/>
          <p:nvPr/>
        </p:nvSpPr>
        <p:spPr>
          <a:xfrm>
            <a:off x="548640" y="77724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Ariel en funcionamiento</a:t>
            </a:r>
            <a:endParaRPr lang="en-US" sz="2800" dirty="0"/>
          </a:p>
        </p:txBody>
      </p:sp>
      <p:pic>
        <p:nvPicPr>
          <p:cNvPr id="4" name="Image 0" descr="ariel.png"/>
          <p:cNvPicPr>
            <a:picLocks noChangeAspect="1"/>
          </p:cNvPicPr>
          <p:nvPr/>
        </p:nvPicPr>
        <p:blipFill>
          <a:blip r:embed="rId4"/>
          <a:srcRect/>
          <a:stretch/>
        </p:blipFill>
        <p:spPr>
          <a:xfrm>
            <a:off x="548640" y="1600200"/>
            <a:ext cx="7040880" cy="4389120"/>
          </a:xfrm>
          <a:prstGeom prst="rect">
            <a:avLst/>
          </a:prstGeom>
        </p:spPr>
      </p:pic>
      <p:sp>
        <p:nvSpPr>
          <p:cNvPr id="5" name="Shape 2"/>
          <p:cNvSpPr/>
          <p:nvPr/>
        </p:nvSpPr>
        <p:spPr>
          <a:xfrm>
            <a:off x="7863840" y="1783080"/>
            <a:ext cx="3794760" cy="4023360"/>
          </a:xfrm>
          <a:prstGeom prst="roundRect">
            <a:avLst>
              <a:gd name="adj" fmla="val 2892"/>
            </a:avLst>
          </a:prstGeom>
          <a:solidFill>
            <a:srgbClr val="15384A"/>
          </a:solidFill>
          <a:ln w="19050">
            <a:solidFill>
              <a:srgbClr val="0E7C86"/>
            </a:solidFill>
            <a:prstDash val="dash"/>
          </a:ln>
        </p:spPr>
        <p:txBody>
          <a:bodyPr/>
          <a:lstStyle/>
          <a:p>
            <a:endParaRPr lang="es-CR"/>
          </a:p>
        </p:txBody>
      </p:sp>
      <p:sp>
        <p:nvSpPr>
          <p:cNvPr id="6" name="Text 3"/>
          <p:cNvSpPr/>
          <p:nvPr/>
        </p:nvSpPr>
        <p:spPr>
          <a:xfrm>
            <a:off x="8092440" y="2057400"/>
            <a:ext cx="338328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Video de demostración</a:t>
            </a:r>
            <a:endParaRPr lang="en-US" sz="1600" dirty="0"/>
          </a:p>
        </p:txBody>
      </p:sp>
      <p:sp>
        <p:nvSpPr>
          <p:cNvPr id="7" name="Text 4"/>
          <p:cNvSpPr/>
          <p:nvPr/>
        </p:nvSpPr>
        <p:spPr>
          <a:xfrm>
            <a:off x="8092440" y="2606040"/>
            <a:ext cx="3337560" cy="3017520"/>
          </a:xfrm>
          <a:prstGeom prst="rect">
            <a:avLst/>
          </a:prstGeom>
          <a:noFill/>
          <a:ln/>
        </p:spPr>
        <p:txBody>
          <a:bodyPr wrap="square" lIns="0" tIns="0" rIns="0" bIns="0" rtlCol="0" anchor="t"/>
          <a:lstStyle/>
          <a:p>
            <a:pPr marL="0" indent="0">
              <a:spcAft>
                <a:spcPts val="800"/>
              </a:spcAft>
              <a:buNone/>
            </a:pPr>
            <a:endParaRPr lang="en-US" sz="1350" dirty="0"/>
          </a:p>
        </p:txBody>
      </p:sp>
      <p:pic>
        <p:nvPicPr>
          <p:cNvPr id="8" name="Elementos multimedia en línea 7" title="Ariel - Uso Textua y CVA">
            <a:hlinkClick r:id="" action="ppaction://media"/>
            <a:extLst>
              <a:ext uri="{FF2B5EF4-FFF2-40B4-BE49-F238E27FC236}">
                <a16:creationId xmlns:a16="http://schemas.microsoft.com/office/drawing/2014/main" id="{F9F297F0-DF28-0738-5741-F92553B76136}"/>
              </a:ext>
            </a:extLst>
          </p:cNvPr>
          <p:cNvPicPr>
            <a:picLocks noRot="1" noChangeAspect="1"/>
          </p:cNvPicPr>
          <p:nvPr>
            <a:videoFile r:link="rId1"/>
          </p:nvPr>
        </p:nvPicPr>
        <p:blipFill>
          <a:blip r:embed="rId5"/>
          <a:stretch>
            <a:fillRect/>
          </a:stretch>
        </p:blipFill>
        <p:spPr>
          <a:xfrm>
            <a:off x="8038623" y="2880360"/>
            <a:ext cx="3437097" cy="19419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METODOLOGÍA</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Piloto con expertos, diseño entre-sujetos</a:t>
            </a:r>
            <a:endParaRPr lang="en-US" sz="3000" dirty="0"/>
          </a:p>
        </p:txBody>
      </p:sp>
      <p:sp>
        <p:nvSpPr>
          <p:cNvPr id="4" name="Shape 2"/>
          <p:cNvSpPr/>
          <p:nvPr/>
        </p:nvSpPr>
        <p:spPr>
          <a:xfrm>
            <a:off x="502920" y="1783080"/>
            <a:ext cx="3657600" cy="1828800"/>
          </a:xfrm>
          <a:prstGeom prst="roundRect">
            <a:avLst>
              <a:gd name="adj" fmla="val 5000"/>
            </a:avLst>
          </a:prstGeom>
          <a:solidFill>
            <a:srgbClr val="0E7C86"/>
          </a:solidFill>
          <a:ln/>
          <a:effectLst>
            <a:outerShdw blurRad="88900" dist="38100" dir="5400000" algn="bl" rotWithShape="0">
              <a:srgbClr val="000000">
                <a:alpha val="13000"/>
              </a:srgbClr>
            </a:outerShdw>
          </a:effectLst>
        </p:spPr>
        <p:txBody>
          <a:bodyPr/>
          <a:lstStyle/>
          <a:p>
            <a:endParaRPr lang="es-CR"/>
          </a:p>
        </p:txBody>
      </p:sp>
      <p:sp>
        <p:nvSpPr>
          <p:cNvPr id="5" name="Text 3"/>
          <p:cNvSpPr/>
          <p:nvPr/>
        </p:nvSpPr>
        <p:spPr>
          <a:xfrm>
            <a:off x="731520" y="2011680"/>
            <a:ext cx="3246120" cy="1371600"/>
          </a:xfrm>
          <a:prstGeom prst="rect">
            <a:avLst/>
          </a:prstGeom>
          <a:noFill/>
          <a:ln/>
        </p:spPr>
        <p:txBody>
          <a:bodyPr wrap="square" lIns="0" tIns="0" rIns="0" bIns="0" rtlCol="0" anchor="t"/>
          <a:lstStyle/>
          <a:p>
            <a:pPr marL="0" indent="0">
              <a:spcAft>
                <a:spcPts val="600"/>
              </a:spcAft>
              <a:buNone/>
            </a:pPr>
            <a:r>
              <a:rPr lang="en-US" sz="1600" b="1" dirty="0">
                <a:solidFill>
                  <a:srgbClr val="FFFFFF"/>
                </a:solidFill>
                <a:latin typeface="Calibri" pitchFamily="34" charset="0"/>
                <a:ea typeface="Calibri" pitchFamily="34" charset="-122"/>
                <a:cs typeface="Calibri" pitchFamily="34" charset="-120"/>
              </a:rPr>
              <a:t>Condición A — AVC</a:t>
            </a:r>
            <a:endParaRPr lang="en-US" sz="1600" dirty="0"/>
          </a:p>
          <a:p>
            <a:pPr marL="0" indent="0">
              <a:buNone/>
            </a:pPr>
            <a:r>
              <a:rPr lang="en-US" sz="1300" dirty="0">
                <a:solidFill>
                  <a:srgbClr val="E6F3F4"/>
                </a:solidFill>
                <a:latin typeface="Calibri" pitchFamily="34" charset="0"/>
                <a:ea typeface="Calibri" pitchFamily="34" charset="-122"/>
                <a:cs typeface="Calibri" pitchFamily="34" charset="-120"/>
              </a:rPr>
              <a:t>avatar 3D + voz + STT + animaciones</a:t>
            </a:r>
            <a:endParaRPr lang="en-US" sz="1600" dirty="0"/>
          </a:p>
        </p:txBody>
      </p:sp>
      <p:sp>
        <p:nvSpPr>
          <p:cNvPr id="6" name="Shape 4"/>
          <p:cNvSpPr/>
          <p:nvPr/>
        </p:nvSpPr>
        <p:spPr>
          <a:xfrm>
            <a:off x="502920" y="3749040"/>
            <a:ext cx="3657600" cy="1737360"/>
          </a:xfrm>
          <a:prstGeom prst="roundRect">
            <a:avLst>
              <a:gd name="adj" fmla="val 5263"/>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7" name="Text 5"/>
          <p:cNvSpPr/>
          <p:nvPr/>
        </p:nvSpPr>
        <p:spPr>
          <a:xfrm>
            <a:off x="731520" y="3977640"/>
            <a:ext cx="3246120" cy="1280160"/>
          </a:xfrm>
          <a:prstGeom prst="rect">
            <a:avLst/>
          </a:prstGeom>
          <a:noFill/>
          <a:ln/>
        </p:spPr>
        <p:txBody>
          <a:bodyPr wrap="square" lIns="0" tIns="0" rIns="0" bIns="0" rtlCol="0" anchor="t"/>
          <a:lstStyle/>
          <a:p>
            <a:pPr marL="0" indent="0">
              <a:spcAft>
                <a:spcPts val="600"/>
              </a:spcAft>
              <a:buNone/>
            </a:pPr>
            <a:r>
              <a:rPr lang="en-US" sz="1600" b="1" dirty="0">
                <a:solidFill>
                  <a:srgbClr val="1E2A32"/>
                </a:solidFill>
                <a:latin typeface="Calibri" pitchFamily="34" charset="0"/>
                <a:ea typeface="Calibri" pitchFamily="34" charset="-122"/>
                <a:cs typeface="Calibri" pitchFamily="34" charset="-120"/>
              </a:rPr>
              <a:t>Condición B — Texto</a:t>
            </a:r>
            <a:endParaRPr lang="en-US" sz="1600" dirty="0"/>
          </a:p>
          <a:p>
            <a:pPr marL="0" indent="0">
              <a:buNone/>
            </a:pPr>
            <a:r>
              <a:rPr lang="en-US" sz="1300" dirty="0">
                <a:solidFill>
                  <a:srgbClr val="5C7079"/>
                </a:solidFill>
                <a:latin typeface="Calibri" pitchFamily="34" charset="0"/>
                <a:ea typeface="Calibri" pitchFamily="34" charset="-122"/>
                <a:cs typeface="Calibri" pitchFamily="34" charset="-120"/>
              </a:rPr>
              <a:t>mismo RAG/LLM, solo chat textual</a:t>
            </a:r>
            <a:endParaRPr lang="en-US" sz="1600" dirty="0"/>
          </a:p>
        </p:txBody>
      </p:sp>
      <p:sp>
        <p:nvSpPr>
          <p:cNvPr id="8" name="Text 6"/>
          <p:cNvSpPr/>
          <p:nvPr/>
        </p:nvSpPr>
        <p:spPr>
          <a:xfrm>
            <a:off x="4526280" y="1828800"/>
            <a:ext cx="7132320" cy="3840480"/>
          </a:xfrm>
          <a:prstGeom prst="rect">
            <a:avLst/>
          </a:prstGeom>
          <a:noFill/>
          <a:ln/>
        </p:spPr>
        <p:txBody>
          <a:bodyPr wrap="square" rtlCol="0" anchor="t"/>
          <a:lstStyle/>
          <a:p>
            <a:pPr marL="342900" indent="-342900">
              <a:spcAft>
                <a:spcPts val="900"/>
              </a:spcAft>
              <a:buSzPct val="100000"/>
              <a:buChar char="•"/>
            </a:pPr>
            <a:r>
              <a:rPr lang="en-US" sz="1550" dirty="0">
                <a:solidFill>
                  <a:srgbClr val="1E2A32"/>
                </a:solidFill>
                <a:latin typeface="Calibri" pitchFamily="34" charset="0"/>
                <a:ea typeface="Calibri" pitchFamily="34" charset="-122"/>
                <a:cs typeface="Calibri" pitchFamily="34" charset="-120"/>
              </a:rPr>
              <a:t>N = 8 expertos (4 + 4), asignación aleatoria; TXT-01 excluido por datos incompletos.</a:t>
            </a:r>
            <a:endParaRPr lang="en-US" sz="1550" dirty="0"/>
          </a:p>
          <a:p>
            <a:pPr marL="342900" indent="-342900">
              <a:spcAft>
                <a:spcPts val="900"/>
              </a:spcAft>
              <a:buSzPct val="100000"/>
              <a:buChar char="•"/>
            </a:pPr>
            <a:r>
              <a:rPr lang="en-US" sz="1550" dirty="0">
                <a:solidFill>
                  <a:srgbClr val="1E2A32"/>
                </a:solidFill>
                <a:latin typeface="Calibri" pitchFamily="34" charset="0"/>
                <a:ea typeface="Calibri" pitchFamily="34" charset="-122"/>
                <a:cs typeface="Calibri" pitchFamily="34" charset="-120"/>
              </a:rPr>
              <a:t>Expediente: 3 reglamentos públicos de la UCR (datos verificables).</a:t>
            </a:r>
            <a:endParaRPr lang="en-US" sz="1550" dirty="0"/>
          </a:p>
          <a:p>
            <a:pPr marL="342900" indent="-342900">
              <a:spcAft>
                <a:spcPts val="900"/>
              </a:spcAft>
              <a:buSzPct val="100000"/>
              <a:buChar char="•"/>
            </a:pPr>
            <a:r>
              <a:rPr lang="en-US" sz="1550" dirty="0">
                <a:solidFill>
                  <a:srgbClr val="1E2A32"/>
                </a:solidFill>
                <a:latin typeface="Calibri" pitchFamily="34" charset="0"/>
                <a:ea typeface="Calibri" pitchFamily="34" charset="-122"/>
                <a:cs typeface="Calibri" pitchFamily="34" charset="-120"/>
              </a:rPr>
              <a:t>Tareas: T1 verificación · T2 síntesis normativa cruzada · T3 datos puntuales.</a:t>
            </a:r>
            <a:endParaRPr lang="en-US" sz="1550" dirty="0"/>
          </a:p>
          <a:p>
            <a:pPr marL="342900" indent="-342900">
              <a:spcAft>
                <a:spcPts val="900"/>
              </a:spcAft>
              <a:buSzPct val="100000"/>
              <a:buChar char="•"/>
            </a:pPr>
            <a:r>
              <a:rPr lang="en-US" sz="1550" dirty="0">
                <a:solidFill>
                  <a:srgbClr val="1E2A32"/>
                </a:solidFill>
                <a:latin typeface="Calibri" pitchFamily="34" charset="0"/>
                <a:ea typeface="Calibri" pitchFamily="34" charset="-122"/>
                <a:cs typeface="Calibri" pitchFamily="34" charset="-120"/>
              </a:rPr>
              <a:t>Instrumentos: TiA (confianza), Godspeed (naturalidad), SUS (usabilidad), retención (0–3).</a:t>
            </a:r>
            <a:endParaRPr lang="en-US" sz="1550" dirty="0"/>
          </a:p>
          <a:p>
            <a:pPr marL="342900" indent="-342900">
              <a:buSzPct val="100000"/>
              <a:buChar char="•"/>
            </a:pPr>
            <a:r>
              <a:rPr lang="en-US" sz="1550" dirty="0">
                <a:solidFill>
                  <a:srgbClr val="1E2A32"/>
                </a:solidFill>
                <a:latin typeface="Calibri" pitchFamily="34" charset="0"/>
                <a:ea typeface="Calibri" pitchFamily="34" charset="-122"/>
                <a:cs typeface="Calibri" pitchFamily="34" charset="-120"/>
              </a:rPr>
              <a:t>Análisis descriptivo + entrevista de cierre. No busca significancia estadística.</a:t>
            </a:r>
            <a:endParaRPr lang="en-US" sz="1550" dirty="0"/>
          </a:p>
        </p:txBody>
      </p:sp>
      <p:sp>
        <p:nvSpPr>
          <p:cNvPr id="9" name="Text 7"/>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10" name="Text 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RESULTADOS CLAVE</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Tres señales que apuntan en distinta dirección</a:t>
            </a:r>
            <a:endParaRPr lang="en-US" sz="3000" dirty="0"/>
          </a:p>
        </p:txBody>
      </p:sp>
      <p:sp>
        <p:nvSpPr>
          <p:cNvPr id="4" name="Shape 2"/>
          <p:cNvSpPr/>
          <p:nvPr/>
        </p:nvSpPr>
        <p:spPr>
          <a:xfrm>
            <a:off x="502920" y="1828800"/>
            <a:ext cx="3611880" cy="3200400"/>
          </a:xfrm>
          <a:prstGeom prst="roundRect">
            <a:avLst>
              <a:gd name="adj" fmla="val 3429"/>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5" name="Text 3"/>
          <p:cNvSpPr/>
          <p:nvPr/>
        </p:nvSpPr>
        <p:spPr>
          <a:xfrm>
            <a:off x="777240" y="2057400"/>
            <a:ext cx="3063240" cy="640080"/>
          </a:xfrm>
          <a:prstGeom prst="rect">
            <a:avLst/>
          </a:prstGeom>
          <a:noFill/>
          <a:ln/>
        </p:spPr>
        <p:txBody>
          <a:bodyPr wrap="square" lIns="0" tIns="0" rIns="0" bIns="0" rtlCol="0" anchor="t"/>
          <a:lstStyle/>
          <a:p>
            <a:pPr marL="0" indent="0">
              <a:buNone/>
            </a:pPr>
            <a:r>
              <a:rPr lang="en-US" sz="1350" b="1" dirty="0">
                <a:solidFill>
                  <a:srgbClr val="5C7079"/>
                </a:solidFill>
                <a:latin typeface="Calibri" pitchFamily="34" charset="0"/>
                <a:ea typeface="Calibri" pitchFamily="34" charset="-122"/>
                <a:cs typeface="Calibri" pitchFamily="34" charset="-120"/>
              </a:rPr>
              <a:t>RQ1 · Confianza (TiA 1–7)</a:t>
            </a:r>
            <a:endParaRPr lang="en-US" sz="1350" dirty="0"/>
          </a:p>
        </p:txBody>
      </p:sp>
      <p:sp>
        <p:nvSpPr>
          <p:cNvPr id="6" name="Text 4"/>
          <p:cNvSpPr/>
          <p:nvPr/>
        </p:nvSpPr>
        <p:spPr>
          <a:xfrm>
            <a:off x="777240" y="2697480"/>
            <a:ext cx="3063240" cy="1005840"/>
          </a:xfrm>
          <a:prstGeom prst="rect">
            <a:avLst/>
          </a:prstGeom>
          <a:noFill/>
          <a:ln/>
        </p:spPr>
        <p:txBody>
          <a:bodyPr wrap="square" lIns="0" tIns="0" rIns="0" bIns="0" rtlCol="0" anchor="ctr"/>
          <a:lstStyle/>
          <a:p>
            <a:pPr marL="0" indent="0">
              <a:buNone/>
            </a:pPr>
            <a:r>
              <a:rPr lang="en-US" sz="6200" b="1" dirty="0">
                <a:solidFill>
                  <a:srgbClr val="1FB6A6"/>
                </a:solidFill>
                <a:latin typeface="Cambria" pitchFamily="34" charset="0"/>
                <a:ea typeface="Cambria" pitchFamily="34" charset="-122"/>
                <a:cs typeface="Cambria" pitchFamily="34" charset="-120"/>
              </a:rPr>
              <a:t>4.83</a:t>
            </a:r>
            <a:endParaRPr lang="en-US" sz="6200" dirty="0"/>
          </a:p>
        </p:txBody>
      </p:sp>
      <p:sp>
        <p:nvSpPr>
          <p:cNvPr id="7" name="Text 5"/>
          <p:cNvSpPr/>
          <p:nvPr/>
        </p:nvSpPr>
        <p:spPr>
          <a:xfrm>
            <a:off x="777240" y="3794760"/>
            <a:ext cx="3063240" cy="365760"/>
          </a:xfrm>
          <a:prstGeom prst="rect">
            <a:avLst/>
          </a:prstGeom>
          <a:noFill/>
          <a:ln/>
        </p:spPr>
        <p:txBody>
          <a:bodyPr wrap="square" lIns="0" tIns="0" rIns="0" bIns="0" rtlCol="0" anchor="ctr"/>
          <a:lstStyle/>
          <a:p>
            <a:pPr marL="0" indent="0">
              <a:buNone/>
            </a:pPr>
            <a:r>
              <a:rPr lang="en-US" sz="1600" dirty="0">
                <a:solidFill>
                  <a:srgbClr val="1E2A32"/>
                </a:solidFill>
                <a:latin typeface="Calibri" pitchFamily="34" charset="0"/>
                <a:ea typeface="Calibri" pitchFamily="34" charset="-122"/>
                <a:cs typeface="Calibri" pitchFamily="34" charset="-120"/>
              </a:rPr>
              <a:t>vs 3.58</a:t>
            </a:r>
            <a:endParaRPr lang="en-US" sz="1600" dirty="0"/>
          </a:p>
        </p:txBody>
      </p:sp>
      <p:sp>
        <p:nvSpPr>
          <p:cNvPr id="8" name="Text 6"/>
          <p:cNvSpPr/>
          <p:nvPr/>
        </p:nvSpPr>
        <p:spPr>
          <a:xfrm>
            <a:off x="777240" y="4297680"/>
            <a:ext cx="3108960" cy="548640"/>
          </a:xfrm>
          <a:prstGeom prst="rect">
            <a:avLst/>
          </a:prstGeom>
          <a:noFill/>
          <a:ln/>
        </p:spPr>
        <p:txBody>
          <a:bodyPr wrap="square" lIns="0" tIns="0" rIns="0" bIns="0" rtlCol="0" anchor="ctr"/>
          <a:lstStyle/>
          <a:p>
            <a:pPr marL="0" indent="0">
              <a:buNone/>
            </a:pPr>
            <a:r>
              <a:rPr lang="en-US" sz="1400" b="1" i="1" dirty="0">
                <a:solidFill>
                  <a:srgbClr val="1FB6A6"/>
                </a:solidFill>
                <a:latin typeface="Calibri" pitchFamily="34" charset="0"/>
                <a:ea typeface="Calibri" pitchFamily="34" charset="-122"/>
                <a:cs typeface="Calibri" pitchFamily="34" charset="-120"/>
              </a:rPr>
              <a:t>AVC ↑ más confianza</a:t>
            </a:r>
            <a:endParaRPr lang="en-US" sz="1400" dirty="0"/>
          </a:p>
        </p:txBody>
      </p:sp>
      <p:sp>
        <p:nvSpPr>
          <p:cNvPr id="9" name="Shape 7"/>
          <p:cNvSpPr/>
          <p:nvPr/>
        </p:nvSpPr>
        <p:spPr>
          <a:xfrm>
            <a:off x="4297680" y="1828800"/>
            <a:ext cx="3611880" cy="3200400"/>
          </a:xfrm>
          <a:prstGeom prst="roundRect">
            <a:avLst>
              <a:gd name="adj" fmla="val 3429"/>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10" name="Text 8"/>
          <p:cNvSpPr/>
          <p:nvPr/>
        </p:nvSpPr>
        <p:spPr>
          <a:xfrm>
            <a:off x="4572000" y="2057400"/>
            <a:ext cx="3063240" cy="640080"/>
          </a:xfrm>
          <a:prstGeom prst="rect">
            <a:avLst/>
          </a:prstGeom>
          <a:noFill/>
          <a:ln/>
        </p:spPr>
        <p:txBody>
          <a:bodyPr wrap="square" lIns="0" tIns="0" rIns="0" bIns="0" rtlCol="0" anchor="t"/>
          <a:lstStyle/>
          <a:p>
            <a:pPr marL="0" indent="0">
              <a:buNone/>
            </a:pPr>
            <a:r>
              <a:rPr lang="en-US" sz="1350" b="1" dirty="0">
                <a:solidFill>
                  <a:srgbClr val="5C7079"/>
                </a:solidFill>
                <a:latin typeface="Calibri" pitchFamily="34" charset="0"/>
                <a:ea typeface="Calibri" pitchFamily="34" charset="-122"/>
                <a:cs typeface="Calibri" pitchFamily="34" charset="-120"/>
              </a:rPr>
              <a:t>RQ2 · Antropomorfismo (1–5)</a:t>
            </a:r>
            <a:endParaRPr lang="en-US" sz="1350" dirty="0"/>
          </a:p>
        </p:txBody>
      </p:sp>
      <p:sp>
        <p:nvSpPr>
          <p:cNvPr id="11" name="Text 9"/>
          <p:cNvSpPr/>
          <p:nvPr/>
        </p:nvSpPr>
        <p:spPr>
          <a:xfrm>
            <a:off x="4572000" y="2697480"/>
            <a:ext cx="3063240" cy="1005840"/>
          </a:xfrm>
          <a:prstGeom prst="rect">
            <a:avLst/>
          </a:prstGeom>
          <a:noFill/>
          <a:ln/>
        </p:spPr>
        <p:txBody>
          <a:bodyPr wrap="square" lIns="0" tIns="0" rIns="0" bIns="0" rtlCol="0" anchor="ctr"/>
          <a:lstStyle/>
          <a:p>
            <a:pPr marL="0" indent="0">
              <a:buNone/>
            </a:pPr>
            <a:r>
              <a:rPr lang="en-US" sz="6200" b="1" dirty="0">
                <a:solidFill>
                  <a:srgbClr val="E2604F"/>
                </a:solidFill>
                <a:latin typeface="Cambria" pitchFamily="34" charset="0"/>
                <a:ea typeface="Cambria" pitchFamily="34" charset="-122"/>
                <a:cs typeface="Cambria" pitchFamily="34" charset="-120"/>
              </a:rPr>
              <a:t>1.60</a:t>
            </a:r>
            <a:endParaRPr lang="en-US" sz="6200" dirty="0"/>
          </a:p>
        </p:txBody>
      </p:sp>
      <p:sp>
        <p:nvSpPr>
          <p:cNvPr id="12" name="Text 10"/>
          <p:cNvSpPr/>
          <p:nvPr/>
        </p:nvSpPr>
        <p:spPr>
          <a:xfrm>
            <a:off x="4572000" y="3794760"/>
            <a:ext cx="3063240" cy="365760"/>
          </a:xfrm>
          <a:prstGeom prst="rect">
            <a:avLst/>
          </a:prstGeom>
          <a:noFill/>
          <a:ln/>
        </p:spPr>
        <p:txBody>
          <a:bodyPr wrap="square" lIns="0" tIns="0" rIns="0" bIns="0" rtlCol="0" anchor="ctr"/>
          <a:lstStyle/>
          <a:p>
            <a:pPr marL="0" indent="0">
              <a:buNone/>
            </a:pPr>
            <a:r>
              <a:rPr lang="en-US" sz="1600" dirty="0">
                <a:solidFill>
                  <a:srgbClr val="1E2A32"/>
                </a:solidFill>
                <a:latin typeface="Calibri" pitchFamily="34" charset="0"/>
                <a:ea typeface="Calibri" pitchFamily="34" charset="-122"/>
                <a:cs typeface="Calibri" pitchFamily="34" charset="-120"/>
              </a:rPr>
              <a:t>vs 2.50</a:t>
            </a:r>
            <a:endParaRPr lang="en-US" sz="1600" dirty="0"/>
          </a:p>
        </p:txBody>
      </p:sp>
      <p:sp>
        <p:nvSpPr>
          <p:cNvPr id="13" name="Text 11"/>
          <p:cNvSpPr/>
          <p:nvPr/>
        </p:nvSpPr>
        <p:spPr>
          <a:xfrm>
            <a:off x="4572000" y="4297680"/>
            <a:ext cx="3108960" cy="548640"/>
          </a:xfrm>
          <a:prstGeom prst="rect">
            <a:avLst/>
          </a:prstGeom>
          <a:noFill/>
          <a:ln/>
        </p:spPr>
        <p:txBody>
          <a:bodyPr wrap="square" lIns="0" tIns="0" rIns="0" bIns="0" rtlCol="0" anchor="ctr"/>
          <a:lstStyle/>
          <a:p>
            <a:pPr marL="0" indent="0">
              <a:buNone/>
            </a:pPr>
            <a:r>
              <a:rPr lang="en-US" sz="1400" b="1" i="1" dirty="0">
                <a:solidFill>
                  <a:srgbClr val="E2604F"/>
                </a:solidFill>
                <a:latin typeface="Calibri" pitchFamily="34" charset="0"/>
                <a:ea typeface="Calibri" pitchFamily="34" charset="-122"/>
                <a:cs typeface="Calibri" pitchFamily="34" charset="-120"/>
              </a:rPr>
              <a:t>AVC ↓ menos natural</a:t>
            </a:r>
            <a:endParaRPr lang="en-US" sz="1400" dirty="0"/>
          </a:p>
        </p:txBody>
      </p:sp>
      <p:sp>
        <p:nvSpPr>
          <p:cNvPr id="14" name="Shape 12"/>
          <p:cNvSpPr/>
          <p:nvPr/>
        </p:nvSpPr>
        <p:spPr>
          <a:xfrm>
            <a:off x="8092440" y="1828800"/>
            <a:ext cx="3611880" cy="3200400"/>
          </a:xfrm>
          <a:prstGeom prst="roundRect">
            <a:avLst>
              <a:gd name="adj" fmla="val 3429"/>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15" name="Text 13"/>
          <p:cNvSpPr/>
          <p:nvPr/>
        </p:nvSpPr>
        <p:spPr>
          <a:xfrm>
            <a:off x="8366760" y="2057400"/>
            <a:ext cx="3063240" cy="640080"/>
          </a:xfrm>
          <a:prstGeom prst="rect">
            <a:avLst/>
          </a:prstGeom>
          <a:noFill/>
          <a:ln/>
        </p:spPr>
        <p:txBody>
          <a:bodyPr wrap="square" lIns="0" tIns="0" rIns="0" bIns="0" rtlCol="0" anchor="t"/>
          <a:lstStyle/>
          <a:p>
            <a:pPr marL="0" indent="0">
              <a:buNone/>
            </a:pPr>
            <a:r>
              <a:rPr lang="en-US" sz="1350" b="1" dirty="0">
                <a:solidFill>
                  <a:srgbClr val="5C7079"/>
                </a:solidFill>
                <a:latin typeface="Calibri" pitchFamily="34" charset="0"/>
                <a:ea typeface="Calibri" pitchFamily="34" charset="-122"/>
                <a:cs typeface="Calibri" pitchFamily="34" charset="-120"/>
              </a:rPr>
              <a:t>RQ3 · Usabilidad (SUS 0–100)</a:t>
            </a:r>
            <a:endParaRPr lang="en-US" sz="1350" dirty="0"/>
          </a:p>
        </p:txBody>
      </p:sp>
      <p:sp>
        <p:nvSpPr>
          <p:cNvPr id="16" name="Text 14"/>
          <p:cNvSpPr/>
          <p:nvPr/>
        </p:nvSpPr>
        <p:spPr>
          <a:xfrm>
            <a:off x="8366760" y="2697480"/>
            <a:ext cx="3063240" cy="1005840"/>
          </a:xfrm>
          <a:prstGeom prst="rect">
            <a:avLst/>
          </a:prstGeom>
          <a:noFill/>
          <a:ln/>
        </p:spPr>
        <p:txBody>
          <a:bodyPr wrap="square" lIns="0" tIns="0" rIns="0" bIns="0" rtlCol="0" anchor="ctr"/>
          <a:lstStyle/>
          <a:p>
            <a:pPr marL="0" indent="0">
              <a:buNone/>
            </a:pPr>
            <a:r>
              <a:rPr lang="en-US" sz="6200" b="1" dirty="0">
                <a:solidFill>
                  <a:srgbClr val="E0A53B"/>
                </a:solidFill>
                <a:latin typeface="Cambria" pitchFamily="34" charset="0"/>
                <a:ea typeface="Cambria" pitchFamily="34" charset="-122"/>
                <a:cs typeface="Cambria" pitchFamily="34" charset="-120"/>
              </a:rPr>
              <a:t>73.8</a:t>
            </a:r>
            <a:endParaRPr lang="en-US" sz="6200" dirty="0"/>
          </a:p>
        </p:txBody>
      </p:sp>
      <p:sp>
        <p:nvSpPr>
          <p:cNvPr id="17" name="Text 15"/>
          <p:cNvSpPr/>
          <p:nvPr/>
        </p:nvSpPr>
        <p:spPr>
          <a:xfrm>
            <a:off x="8366760" y="3794760"/>
            <a:ext cx="3063240" cy="365760"/>
          </a:xfrm>
          <a:prstGeom prst="rect">
            <a:avLst/>
          </a:prstGeom>
          <a:noFill/>
          <a:ln/>
        </p:spPr>
        <p:txBody>
          <a:bodyPr wrap="square" lIns="0" tIns="0" rIns="0" bIns="0" rtlCol="0" anchor="ctr"/>
          <a:lstStyle/>
          <a:p>
            <a:pPr marL="0" indent="0">
              <a:buNone/>
            </a:pPr>
            <a:r>
              <a:rPr lang="en-US" sz="1600" dirty="0">
                <a:solidFill>
                  <a:srgbClr val="1E2A32"/>
                </a:solidFill>
                <a:latin typeface="Calibri" pitchFamily="34" charset="0"/>
                <a:ea typeface="Calibri" pitchFamily="34" charset="-122"/>
                <a:cs typeface="Calibri" pitchFamily="34" charset="-120"/>
              </a:rPr>
              <a:t>vs 72.5</a:t>
            </a:r>
            <a:endParaRPr lang="en-US" sz="1600" dirty="0"/>
          </a:p>
        </p:txBody>
      </p:sp>
      <p:sp>
        <p:nvSpPr>
          <p:cNvPr id="18" name="Text 16"/>
          <p:cNvSpPr/>
          <p:nvPr/>
        </p:nvSpPr>
        <p:spPr>
          <a:xfrm>
            <a:off x="8366760" y="4297680"/>
            <a:ext cx="3108960" cy="548640"/>
          </a:xfrm>
          <a:prstGeom prst="rect">
            <a:avLst/>
          </a:prstGeom>
          <a:noFill/>
          <a:ln/>
        </p:spPr>
        <p:txBody>
          <a:bodyPr wrap="square" lIns="0" tIns="0" rIns="0" bIns="0" rtlCol="0" anchor="ctr"/>
          <a:lstStyle/>
          <a:p>
            <a:pPr marL="0" indent="0">
              <a:buNone/>
            </a:pPr>
            <a:r>
              <a:rPr lang="en-US" sz="1400" b="1" i="1" dirty="0">
                <a:solidFill>
                  <a:srgbClr val="E0A53B"/>
                </a:solidFill>
                <a:latin typeface="Calibri" pitchFamily="34" charset="0"/>
                <a:ea typeface="Calibri" pitchFamily="34" charset="-122"/>
                <a:cs typeface="Calibri" pitchFamily="34" charset="-120"/>
              </a:rPr>
              <a:t>≈ equivalente</a:t>
            </a:r>
            <a:endParaRPr lang="en-US" sz="1400" dirty="0"/>
          </a:p>
        </p:txBody>
      </p:sp>
      <p:sp>
        <p:nvSpPr>
          <p:cNvPr id="19" name="Text 17"/>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20" name="Text 18"/>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EL HALLAZGO</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La disociación: el embodiment, tal como está, resta naturalidad</a:t>
            </a:r>
            <a:endParaRPr lang="en-US" sz="3000" dirty="0"/>
          </a:p>
        </p:txBody>
      </p:sp>
      <p:graphicFrame>
        <p:nvGraphicFramePr>
          <p:cNvPr id="4" name="Chart 0"/>
          <p:cNvGraphicFramePr/>
          <p:nvPr/>
        </p:nvGraphicFramePr>
        <p:xfrm>
          <a:off x="502920" y="1783080"/>
          <a:ext cx="70408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72400" y="1920240"/>
            <a:ext cx="3886200" cy="3840480"/>
          </a:xfrm>
          <a:prstGeom prst="roundRect">
            <a:avLst>
              <a:gd name="adj" fmla="val 2857"/>
            </a:avLst>
          </a:prstGeom>
          <a:solidFill>
            <a:srgbClr val="0E2A38"/>
          </a:solidFill>
          <a:ln/>
          <a:effectLst>
            <a:outerShdw blurRad="88900" dist="38100" dir="5400000" algn="bl" rotWithShape="0">
              <a:srgbClr val="000000">
                <a:alpha val="13000"/>
              </a:srgbClr>
            </a:outerShdw>
          </a:effectLst>
        </p:spPr>
        <p:txBody>
          <a:bodyPr/>
          <a:lstStyle/>
          <a:p>
            <a:endParaRPr lang="es-CR"/>
          </a:p>
        </p:txBody>
      </p:sp>
      <p:sp>
        <p:nvSpPr>
          <p:cNvPr id="6" name="Text 3"/>
          <p:cNvSpPr/>
          <p:nvPr/>
        </p:nvSpPr>
        <p:spPr>
          <a:xfrm>
            <a:off x="8028432" y="2148840"/>
            <a:ext cx="3383280" cy="365760"/>
          </a:xfrm>
          <a:prstGeom prst="rect">
            <a:avLst/>
          </a:prstGeom>
          <a:noFill/>
          <a:ln/>
        </p:spPr>
        <p:txBody>
          <a:bodyPr wrap="square" lIns="0" tIns="0" rIns="0" bIns="0" rtlCol="0" anchor="ctr"/>
          <a:lstStyle/>
          <a:p>
            <a:pPr marL="0" indent="0">
              <a:buNone/>
            </a:pPr>
            <a:r>
              <a:rPr lang="en-US" sz="1300" b="1" kern="0" spc="200" dirty="0">
                <a:solidFill>
                  <a:srgbClr val="1FB6A6"/>
                </a:solidFill>
                <a:latin typeface="Calibri" pitchFamily="34" charset="0"/>
                <a:ea typeface="Calibri" pitchFamily="34" charset="-122"/>
                <a:cs typeface="Calibri" pitchFamily="34" charset="-120"/>
              </a:rPr>
              <a:t>Lectura</a:t>
            </a:r>
            <a:endParaRPr lang="en-US" sz="1300" dirty="0"/>
          </a:p>
        </p:txBody>
      </p:sp>
      <p:sp>
        <p:nvSpPr>
          <p:cNvPr id="7" name="Text 4"/>
          <p:cNvSpPr/>
          <p:nvPr/>
        </p:nvSpPr>
        <p:spPr>
          <a:xfrm>
            <a:off x="8028432" y="2560320"/>
            <a:ext cx="3383280" cy="3017520"/>
          </a:xfrm>
          <a:prstGeom prst="rect">
            <a:avLst/>
          </a:prstGeom>
          <a:noFill/>
          <a:ln/>
        </p:spPr>
        <p:txBody>
          <a:bodyPr wrap="square" lIns="0" tIns="0" rIns="0" bIns="0" rtlCol="0" anchor="t"/>
          <a:lstStyle/>
          <a:p>
            <a:pPr marL="0" indent="0">
              <a:spcAft>
                <a:spcPts val="1000"/>
              </a:spcAft>
              <a:buNone/>
            </a:pPr>
            <a:r>
              <a:rPr lang="en-US" sz="1450" dirty="0">
                <a:solidFill>
                  <a:srgbClr val="DDEBED"/>
                </a:solidFill>
                <a:latin typeface="Calibri" pitchFamily="34" charset="0"/>
                <a:ea typeface="Calibri" pitchFamily="34" charset="-122"/>
                <a:cs typeface="Calibri" pitchFamily="34" charset="-120"/>
              </a:rPr>
              <a:t>El AVC puntúa por debajo del texto en casi todas las subescalas de Godspeed.</a:t>
            </a:r>
            <a:endParaRPr lang="en-US" sz="1450" dirty="0"/>
          </a:p>
          <a:p>
            <a:pPr marL="0" indent="0">
              <a:spcAft>
                <a:spcPts val="1000"/>
              </a:spcAft>
              <a:buNone/>
            </a:pPr>
            <a:r>
              <a:rPr lang="en-US" sz="1450" dirty="0">
                <a:solidFill>
                  <a:srgbClr val="DDEBED"/>
                </a:solidFill>
                <a:latin typeface="Calibri" pitchFamily="34" charset="0"/>
                <a:ea typeface="Calibri" pitchFamily="34" charset="-122"/>
                <a:cs typeface="Calibri" pitchFamily="34" charset="-120"/>
              </a:rPr>
              <a:t>La inteligencia percibida queda igual: la mueve el RAG, no el cuerpo.</a:t>
            </a:r>
            <a:endParaRPr lang="en-US" sz="1450" dirty="0"/>
          </a:p>
          <a:p>
            <a:pPr marL="0" indent="0">
              <a:buNone/>
            </a:pPr>
            <a:r>
              <a:rPr lang="en-US" sz="1450" dirty="0">
                <a:solidFill>
                  <a:srgbClr val="DDEBED"/>
                </a:solidFill>
                <a:latin typeface="Calibri" pitchFamily="34" charset="0"/>
                <a:ea typeface="Calibri" pitchFamily="34" charset="-122"/>
                <a:cs typeface="Calibri" pitchFamily="34" charset="-120"/>
              </a:rPr>
              <a:t>Voz sintética + lip-sync simulado + avatar manga = artificialidad (Valle Inquietante).</a:t>
            </a:r>
            <a:endParaRPr lang="en-US" sz="1450" dirty="0"/>
          </a:p>
        </p:txBody>
      </p:sp>
      <p:sp>
        <p:nvSpPr>
          <p:cNvPr id="8" name="Text 5"/>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RESPONDIENDO LAS PREGUNTAS</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Una respuesta distinta por cada RQ</a:t>
            </a:r>
            <a:endParaRPr lang="en-US" sz="3000" dirty="0"/>
          </a:p>
        </p:txBody>
      </p:sp>
      <p:sp>
        <p:nvSpPr>
          <p:cNvPr id="4" name="Shape 2"/>
          <p:cNvSpPr/>
          <p:nvPr/>
        </p:nvSpPr>
        <p:spPr>
          <a:xfrm>
            <a:off x="502920" y="1783080"/>
            <a:ext cx="11155680" cy="1371600"/>
          </a:xfrm>
          <a:prstGeom prst="roundRect">
            <a:avLst>
              <a:gd name="adj" fmla="val 6667"/>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5" name="Shape 3"/>
          <p:cNvSpPr/>
          <p:nvPr/>
        </p:nvSpPr>
        <p:spPr>
          <a:xfrm>
            <a:off x="777240" y="2194560"/>
            <a:ext cx="502920" cy="502920"/>
          </a:xfrm>
          <a:prstGeom prst="ellipse">
            <a:avLst/>
          </a:prstGeom>
          <a:solidFill>
            <a:srgbClr val="1FB6A6"/>
          </a:solidFill>
          <a:ln/>
          <a:effectLst>
            <a:outerShdw blurRad="88900" dist="38100" dir="5400000" algn="bl" rotWithShape="0">
              <a:srgbClr val="000000">
                <a:alpha val="13000"/>
              </a:srgbClr>
            </a:outerShdw>
          </a:effectLst>
        </p:spPr>
        <p:txBody>
          <a:bodyPr/>
          <a:lstStyle/>
          <a:p>
            <a:endParaRPr lang="es-CR"/>
          </a:p>
        </p:txBody>
      </p:sp>
      <p:sp>
        <p:nvSpPr>
          <p:cNvPr id="6" name="Text 4"/>
          <p:cNvSpPr/>
          <p:nvPr/>
        </p:nvSpPr>
        <p:spPr>
          <a:xfrm>
            <a:off x="777240" y="21945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17320" y="2011680"/>
            <a:ext cx="731520" cy="914400"/>
          </a:xfrm>
          <a:prstGeom prst="rect">
            <a:avLst/>
          </a:prstGeom>
          <a:noFill/>
          <a:ln/>
        </p:spPr>
        <p:txBody>
          <a:bodyPr wrap="square" lIns="0" tIns="0" rIns="0" bIns="0" rtlCol="0" anchor="ctr"/>
          <a:lstStyle/>
          <a:p>
            <a:pPr marL="0" indent="0" algn="ctr">
              <a:buNone/>
            </a:pPr>
            <a:r>
              <a:rPr lang="en-US" sz="4000" b="1" dirty="0">
                <a:solidFill>
                  <a:srgbClr val="1FB6A6"/>
                </a:solidFill>
                <a:latin typeface="Cambria" pitchFamily="34" charset="0"/>
                <a:ea typeface="Cambria" pitchFamily="34" charset="-122"/>
                <a:cs typeface="Cambria" pitchFamily="34" charset="-120"/>
              </a:rPr>
              <a:t>↑</a:t>
            </a:r>
            <a:endParaRPr lang="en-US" sz="4000" dirty="0"/>
          </a:p>
        </p:txBody>
      </p:sp>
      <p:sp>
        <p:nvSpPr>
          <p:cNvPr id="8" name="Text 6"/>
          <p:cNvSpPr/>
          <p:nvPr/>
        </p:nvSpPr>
        <p:spPr>
          <a:xfrm>
            <a:off x="2286000" y="1965960"/>
            <a:ext cx="2926080" cy="1005840"/>
          </a:xfrm>
          <a:prstGeom prst="rect">
            <a:avLst/>
          </a:prstGeom>
          <a:noFill/>
          <a:ln/>
        </p:spPr>
        <p:txBody>
          <a:bodyPr wrap="square" lIns="0" tIns="0" rIns="0" bIns="0" rtlCol="0" anchor="ctr"/>
          <a:lstStyle/>
          <a:p>
            <a:pPr marL="0" indent="0">
              <a:buNone/>
            </a:pPr>
            <a:r>
              <a:rPr lang="en-US" sz="2100" b="1" dirty="0">
                <a:solidFill>
                  <a:srgbClr val="1E2A32"/>
                </a:solidFill>
                <a:latin typeface="Cambria" pitchFamily="34" charset="0"/>
                <a:ea typeface="Cambria" pitchFamily="34" charset="-122"/>
                <a:cs typeface="Cambria" pitchFamily="34" charset="-120"/>
              </a:rPr>
              <a:t>Confianza ↑</a:t>
            </a:r>
            <a:endParaRPr lang="en-US" sz="2100" dirty="0"/>
          </a:p>
        </p:txBody>
      </p:sp>
      <p:sp>
        <p:nvSpPr>
          <p:cNvPr id="9" name="Text 7"/>
          <p:cNvSpPr/>
          <p:nvPr/>
        </p:nvSpPr>
        <p:spPr>
          <a:xfrm>
            <a:off x="5120640" y="1947672"/>
            <a:ext cx="6400800" cy="1078992"/>
          </a:xfrm>
          <a:prstGeom prst="rect">
            <a:avLst/>
          </a:prstGeom>
          <a:noFill/>
          <a:ln/>
        </p:spPr>
        <p:txBody>
          <a:bodyPr wrap="square" lIns="0" tIns="0" rIns="0" bIns="0" rtlCol="0" anchor="ctr"/>
          <a:lstStyle/>
          <a:p>
            <a:pPr marL="0" indent="0">
              <a:buNone/>
            </a:pPr>
            <a:r>
              <a:rPr lang="en-US" sz="1400" dirty="0">
                <a:solidFill>
                  <a:srgbClr val="5C7079"/>
                </a:solidFill>
                <a:latin typeface="Calibri" pitchFamily="34" charset="0"/>
                <a:ea typeface="Calibri" pitchFamily="34" charset="-122"/>
                <a:cs typeface="Calibri" pitchFamily="34" charset="-120"/>
              </a:rPr>
              <a:t>El AVC eleva la confianza (4.83 vs 3.58). Pero el indicio dominante en ambas condiciones fue ver la fuente citada: el embodiment amplifica, no sustituye.</a:t>
            </a:r>
            <a:endParaRPr lang="en-US" sz="1400" dirty="0"/>
          </a:p>
        </p:txBody>
      </p:sp>
      <p:sp>
        <p:nvSpPr>
          <p:cNvPr id="10" name="Shape 8"/>
          <p:cNvSpPr/>
          <p:nvPr/>
        </p:nvSpPr>
        <p:spPr>
          <a:xfrm>
            <a:off x="502920" y="3264408"/>
            <a:ext cx="11155680" cy="1371600"/>
          </a:xfrm>
          <a:prstGeom prst="roundRect">
            <a:avLst>
              <a:gd name="adj" fmla="val 6667"/>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11" name="Shape 9"/>
          <p:cNvSpPr/>
          <p:nvPr/>
        </p:nvSpPr>
        <p:spPr>
          <a:xfrm>
            <a:off x="777240" y="3675888"/>
            <a:ext cx="502920" cy="502920"/>
          </a:xfrm>
          <a:prstGeom prst="ellipse">
            <a:avLst/>
          </a:prstGeom>
          <a:solidFill>
            <a:srgbClr val="E2604F"/>
          </a:solidFill>
          <a:ln/>
          <a:effectLst>
            <a:outerShdw blurRad="88900" dist="38100" dir="5400000" algn="bl" rotWithShape="0">
              <a:srgbClr val="000000">
                <a:alpha val="13000"/>
              </a:srgbClr>
            </a:outerShdw>
          </a:effectLst>
        </p:spPr>
        <p:txBody>
          <a:bodyPr/>
          <a:lstStyle/>
          <a:p>
            <a:endParaRPr lang="es-CR"/>
          </a:p>
        </p:txBody>
      </p:sp>
      <p:sp>
        <p:nvSpPr>
          <p:cNvPr id="12" name="Text 10"/>
          <p:cNvSpPr/>
          <p:nvPr/>
        </p:nvSpPr>
        <p:spPr>
          <a:xfrm>
            <a:off x="777240" y="367588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417320" y="3493008"/>
            <a:ext cx="731520" cy="914400"/>
          </a:xfrm>
          <a:prstGeom prst="rect">
            <a:avLst/>
          </a:prstGeom>
          <a:noFill/>
          <a:ln/>
        </p:spPr>
        <p:txBody>
          <a:bodyPr wrap="square" lIns="0" tIns="0" rIns="0" bIns="0" rtlCol="0" anchor="ctr"/>
          <a:lstStyle/>
          <a:p>
            <a:pPr marL="0" indent="0" algn="ctr">
              <a:buNone/>
            </a:pPr>
            <a:r>
              <a:rPr lang="en-US" sz="4000" b="1" dirty="0">
                <a:solidFill>
                  <a:srgbClr val="E2604F"/>
                </a:solidFill>
                <a:latin typeface="Cambria" pitchFamily="34" charset="0"/>
                <a:ea typeface="Cambria" pitchFamily="34" charset="-122"/>
                <a:cs typeface="Cambria" pitchFamily="34" charset="-120"/>
              </a:rPr>
              <a:t>↓</a:t>
            </a:r>
            <a:endParaRPr lang="en-US" sz="4000" dirty="0"/>
          </a:p>
        </p:txBody>
      </p:sp>
      <p:sp>
        <p:nvSpPr>
          <p:cNvPr id="14" name="Text 12"/>
          <p:cNvSpPr/>
          <p:nvPr/>
        </p:nvSpPr>
        <p:spPr>
          <a:xfrm>
            <a:off x="2286000" y="3447288"/>
            <a:ext cx="2926080" cy="1005840"/>
          </a:xfrm>
          <a:prstGeom prst="rect">
            <a:avLst/>
          </a:prstGeom>
          <a:noFill/>
          <a:ln/>
        </p:spPr>
        <p:txBody>
          <a:bodyPr wrap="square" lIns="0" tIns="0" rIns="0" bIns="0" rtlCol="0" anchor="ctr"/>
          <a:lstStyle/>
          <a:p>
            <a:pPr marL="0" indent="0">
              <a:buNone/>
            </a:pPr>
            <a:r>
              <a:rPr lang="en-US" sz="2100" b="1" dirty="0">
                <a:solidFill>
                  <a:srgbClr val="1E2A32"/>
                </a:solidFill>
                <a:latin typeface="Cambria" pitchFamily="34" charset="0"/>
                <a:ea typeface="Cambria" pitchFamily="34" charset="-122"/>
                <a:cs typeface="Cambria" pitchFamily="34" charset="-120"/>
              </a:rPr>
              <a:t>Naturalidad ↓</a:t>
            </a:r>
            <a:endParaRPr lang="en-US" sz="2100" dirty="0"/>
          </a:p>
        </p:txBody>
      </p:sp>
      <p:sp>
        <p:nvSpPr>
          <p:cNvPr id="15" name="Text 13"/>
          <p:cNvSpPr/>
          <p:nvPr/>
        </p:nvSpPr>
        <p:spPr>
          <a:xfrm>
            <a:off x="5120640" y="3429000"/>
            <a:ext cx="6400800" cy="1078992"/>
          </a:xfrm>
          <a:prstGeom prst="rect">
            <a:avLst/>
          </a:prstGeom>
          <a:noFill/>
          <a:ln/>
        </p:spPr>
        <p:txBody>
          <a:bodyPr wrap="square" lIns="0" tIns="0" rIns="0" bIns="0" rtlCol="0" anchor="ctr"/>
          <a:lstStyle/>
          <a:p>
            <a:pPr marL="0" indent="0">
              <a:buNone/>
            </a:pPr>
            <a:r>
              <a:rPr lang="en-US" sz="1400" dirty="0">
                <a:solidFill>
                  <a:srgbClr val="5C7079"/>
                </a:solidFill>
                <a:latin typeface="Calibri" pitchFamily="34" charset="0"/>
                <a:ea typeface="Calibri" pitchFamily="34" charset="-122"/>
                <a:cs typeface="Calibri" pitchFamily="34" charset="-120"/>
              </a:rPr>
              <a:t>Contraintuitivo: el AVC se percibe menos natural. El cuello de botella es la fidelidad de voz y movimiento, no el cuerpo en sí.</a:t>
            </a:r>
            <a:endParaRPr lang="en-US" sz="1400" dirty="0"/>
          </a:p>
        </p:txBody>
      </p:sp>
      <p:sp>
        <p:nvSpPr>
          <p:cNvPr id="16" name="Shape 14"/>
          <p:cNvSpPr/>
          <p:nvPr/>
        </p:nvSpPr>
        <p:spPr>
          <a:xfrm>
            <a:off x="502920" y="4745736"/>
            <a:ext cx="11155680" cy="1371600"/>
          </a:xfrm>
          <a:prstGeom prst="roundRect">
            <a:avLst>
              <a:gd name="adj" fmla="val 6667"/>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17" name="Shape 15"/>
          <p:cNvSpPr/>
          <p:nvPr/>
        </p:nvSpPr>
        <p:spPr>
          <a:xfrm>
            <a:off x="777240" y="5157216"/>
            <a:ext cx="502920" cy="502920"/>
          </a:xfrm>
          <a:prstGeom prst="ellipse">
            <a:avLst/>
          </a:prstGeom>
          <a:solidFill>
            <a:srgbClr val="E0A53B"/>
          </a:solidFill>
          <a:ln/>
          <a:effectLst>
            <a:outerShdw blurRad="88900" dist="38100" dir="5400000" algn="bl" rotWithShape="0">
              <a:srgbClr val="000000">
                <a:alpha val="13000"/>
              </a:srgbClr>
            </a:outerShdw>
          </a:effectLst>
        </p:spPr>
        <p:txBody>
          <a:bodyPr/>
          <a:lstStyle/>
          <a:p>
            <a:endParaRPr lang="es-CR"/>
          </a:p>
        </p:txBody>
      </p:sp>
      <p:sp>
        <p:nvSpPr>
          <p:cNvPr id="18" name="Text 16"/>
          <p:cNvSpPr/>
          <p:nvPr/>
        </p:nvSpPr>
        <p:spPr>
          <a:xfrm>
            <a:off x="777240" y="5157216"/>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1417320" y="4974336"/>
            <a:ext cx="731520" cy="914400"/>
          </a:xfrm>
          <a:prstGeom prst="rect">
            <a:avLst/>
          </a:prstGeom>
          <a:noFill/>
          <a:ln/>
        </p:spPr>
        <p:txBody>
          <a:bodyPr wrap="square" lIns="0" tIns="0" rIns="0" bIns="0" rtlCol="0" anchor="ctr"/>
          <a:lstStyle/>
          <a:p>
            <a:pPr marL="0" indent="0" algn="ctr">
              <a:buNone/>
            </a:pPr>
            <a:r>
              <a:rPr lang="en-US" sz="4000" b="1" dirty="0">
                <a:solidFill>
                  <a:srgbClr val="E0A53B"/>
                </a:solidFill>
                <a:latin typeface="Cambria" pitchFamily="34" charset="0"/>
                <a:ea typeface="Cambria" pitchFamily="34" charset="-122"/>
                <a:cs typeface="Cambria" pitchFamily="34" charset="-120"/>
              </a:rPr>
              <a:t>≈</a:t>
            </a:r>
            <a:endParaRPr lang="en-US" sz="4000" dirty="0"/>
          </a:p>
        </p:txBody>
      </p:sp>
      <p:sp>
        <p:nvSpPr>
          <p:cNvPr id="20" name="Text 18"/>
          <p:cNvSpPr/>
          <p:nvPr/>
        </p:nvSpPr>
        <p:spPr>
          <a:xfrm>
            <a:off x="2286000" y="4928616"/>
            <a:ext cx="2926080" cy="1005840"/>
          </a:xfrm>
          <a:prstGeom prst="rect">
            <a:avLst/>
          </a:prstGeom>
          <a:noFill/>
          <a:ln/>
        </p:spPr>
        <p:txBody>
          <a:bodyPr wrap="square" lIns="0" tIns="0" rIns="0" bIns="0" rtlCol="0" anchor="ctr"/>
          <a:lstStyle/>
          <a:p>
            <a:pPr marL="0" indent="0">
              <a:buNone/>
            </a:pPr>
            <a:r>
              <a:rPr lang="en-US" sz="2100" b="1" dirty="0">
                <a:solidFill>
                  <a:srgbClr val="1E2A32"/>
                </a:solidFill>
                <a:latin typeface="Cambria" pitchFamily="34" charset="0"/>
                <a:ea typeface="Cambria" pitchFamily="34" charset="-122"/>
                <a:cs typeface="Cambria" pitchFamily="34" charset="-120"/>
              </a:rPr>
              <a:t>Usabilidad y retención ≈</a:t>
            </a:r>
            <a:endParaRPr lang="en-US" sz="2100" dirty="0"/>
          </a:p>
        </p:txBody>
      </p:sp>
      <p:sp>
        <p:nvSpPr>
          <p:cNvPr id="21" name="Text 19"/>
          <p:cNvSpPr/>
          <p:nvPr/>
        </p:nvSpPr>
        <p:spPr>
          <a:xfrm>
            <a:off x="5120640" y="4910328"/>
            <a:ext cx="6400800" cy="1078992"/>
          </a:xfrm>
          <a:prstGeom prst="rect">
            <a:avLst/>
          </a:prstGeom>
          <a:noFill/>
          <a:ln/>
        </p:spPr>
        <p:txBody>
          <a:bodyPr wrap="square" lIns="0" tIns="0" rIns="0" bIns="0" rtlCol="0" anchor="ctr"/>
          <a:lstStyle/>
          <a:p>
            <a:pPr marL="0" indent="0">
              <a:buNone/>
            </a:pPr>
            <a:r>
              <a:rPr lang="en-US" sz="1400" dirty="0">
                <a:solidFill>
                  <a:srgbClr val="5C7079"/>
                </a:solidFill>
                <a:latin typeface="Calibri" pitchFamily="34" charset="0"/>
                <a:ea typeface="Calibri" pitchFamily="34" charset="-122"/>
                <a:cs typeface="Calibri" pitchFamily="34" charset="-120"/>
              </a:rPr>
              <a:t>Sin diferencia: SUS aceptable en ambos y retención alta. El embodiment no cuesta usabilidad, pero tampoco mejora la comprensión.</a:t>
            </a:r>
            <a:endParaRPr lang="en-US" sz="1400" dirty="0"/>
          </a:p>
        </p:txBody>
      </p:sp>
      <p:sp>
        <p:nvSpPr>
          <p:cNvPr id="22" name="Text 20"/>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23" name="Text 21"/>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EVIDENCIA CUALITATIVA</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Las entrevistas explican los números</a:t>
            </a:r>
            <a:endParaRPr lang="en-US" sz="3000" dirty="0"/>
          </a:p>
        </p:txBody>
      </p:sp>
      <p:sp>
        <p:nvSpPr>
          <p:cNvPr id="4" name="Shape 2"/>
          <p:cNvSpPr/>
          <p:nvPr/>
        </p:nvSpPr>
        <p:spPr>
          <a:xfrm>
            <a:off x="502920" y="1783080"/>
            <a:ext cx="11155680" cy="1280160"/>
          </a:xfrm>
          <a:prstGeom prst="roundRect">
            <a:avLst>
              <a:gd name="adj" fmla="val 7143"/>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5" name="Text 3"/>
          <p:cNvSpPr/>
          <p:nvPr/>
        </p:nvSpPr>
        <p:spPr>
          <a:xfrm>
            <a:off x="685800" y="1737360"/>
            <a:ext cx="731520" cy="1097280"/>
          </a:xfrm>
          <a:prstGeom prst="rect">
            <a:avLst/>
          </a:prstGeom>
          <a:noFill/>
          <a:ln/>
        </p:spPr>
        <p:txBody>
          <a:bodyPr wrap="square" lIns="0" tIns="0" rIns="0" bIns="0" rtlCol="0" anchor="ctr"/>
          <a:lstStyle/>
          <a:p>
            <a:pPr marL="0" indent="0">
              <a:buNone/>
            </a:pPr>
            <a:r>
              <a:rPr lang="en-US" sz="5400" b="1" dirty="0">
                <a:solidFill>
                  <a:srgbClr val="E2604F"/>
                </a:solidFill>
                <a:latin typeface="Cambria" pitchFamily="34" charset="0"/>
                <a:ea typeface="Cambria" pitchFamily="34" charset="-122"/>
                <a:cs typeface="Cambria" pitchFamily="34" charset="-120"/>
              </a:rPr>
              <a:t>”</a:t>
            </a:r>
            <a:endParaRPr lang="en-US" sz="5400" dirty="0"/>
          </a:p>
        </p:txBody>
      </p:sp>
      <p:sp>
        <p:nvSpPr>
          <p:cNvPr id="6" name="Text 4"/>
          <p:cNvSpPr/>
          <p:nvPr/>
        </p:nvSpPr>
        <p:spPr>
          <a:xfrm>
            <a:off x="1554480" y="1892808"/>
            <a:ext cx="7955280" cy="1051560"/>
          </a:xfrm>
          <a:prstGeom prst="rect">
            <a:avLst/>
          </a:prstGeom>
          <a:noFill/>
          <a:ln/>
        </p:spPr>
        <p:txBody>
          <a:bodyPr wrap="square" lIns="0" tIns="0" rIns="0" bIns="0" rtlCol="0" anchor="ctr"/>
          <a:lstStyle/>
          <a:p>
            <a:pPr marL="0" indent="0">
              <a:buNone/>
            </a:pPr>
            <a:r>
              <a:rPr lang="en-US" sz="1700" i="1" dirty="0">
                <a:solidFill>
                  <a:srgbClr val="1E2A32"/>
                </a:solidFill>
                <a:latin typeface="Cambria" pitchFamily="34" charset="0"/>
                <a:ea typeface="Cambria" pitchFamily="34" charset="-122"/>
                <a:cs typeface="Cambria" pitchFamily="34" charset="-120"/>
              </a:rPr>
              <a:t>“No es natural… la voz no es natural, la boca no se mueve bien, pero no se nota tanto.”</a:t>
            </a:r>
            <a:endParaRPr lang="en-US" sz="1700" dirty="0"/>
          </a:p>
        </p:txBody>
      </p:sp>
      <p:sp>
        <p:nvSpPr>
          <p:cNvPr id="7" name="Text 5"/>
          <p:cNvSpPr/>
          <p:nvPr/>
        </p:nvSpPr>
        <p:spPr>
          <a:xfrm>
            <a:off x="9601200" y="1892808"/>
            <a:ext cx="1920240" cy="1051560"/>
          </a:xfrm>
          <a:prstGeom prst="rect">
            <a:avLst/>
          </a:prstGeom>
          <a:noFill/>
          <a:ln/>
        </p:spPr>
        <p:txBody>
          <a:bodyPr wrap="square" lIns="0" tIns="0" rIns="0" bIns="0" rtlCol="0" anchor="ctr"/>
          <a:lstStyle/>
          <a:p>
            <a:pPr marL="0" indent="0" algn="r">
              <a:buNone/>
            </a:pPr>
            <a:r>
              <a:rPr lang="en-US" sz="1300" b="1" dirty="0">
                <a:solidFill>
                  <a:srgbClr val="E2604F"/>
                </a:solidFill>
                <a:latin typeface="Calibri" pitchFamily="34" charset="0"/>
                <a:ea typeface="Calibri" pitchFamily="34" charset="-122"/>
                <a:cs typeface="Calibri" pitchFamily="34" charset="-120"/>
              </a:rPr>
              <a:t>Participante AVC</a:t>
            </a:r>
            <a:endParaRPr lang="en-US" sz="1300" dirty="0"/>
          </a:p>
        </p:txBody>
      </p:sp>
      <p:sp>
        <p:nvSpPr>
          <p:cNvPr id="8" name="Shape 6"/>
          <p:cNvSpPr/>
          <p:nvPr/>
        </p:nvSpPr>
        <p:spPr>
          <a:xfrm>
            <a:off x="502920" y="3200400"/>
            <a:ext cx="11155680" cy="1280160"/>
          </a:xfrm>
          <a:prstGeom prst="roundRect">
            <a:avLst>
              <a:gd name="adj" fmla="val 7143"/>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9" name="Text 7"/>
          <p:cNvSpPr/>
          <p:nvPr/>
        </p:nvSpPr>
        <p:spPr>
          <a:xfrm>
            <a:off x="685800" y="3154680"/>
            <a:ext cx="731520" cy="1097280"/>
          </a:xfrm>
          <a:prstGeom prst="rect">
            <a:avLst/>
          </a:prstGeom>
          <a:noFill/>
          <a:ln/>
        </p:spPr>
        <p:txBody>
          <a:bodyPr wrap="square" lIns="0" tIns="0" rIns="0" bIns="0" rtlCol="0" anchor="ctr"/>
          <a:lstStyle/>
          <a:p>
            <a:pPr marL="0" indent="0">
              <a:buNone/>
            </a:pPr>
            <a:r>
              <a:rPr lang="en-US" sz="5400" b="1" dirty="0">
                <a:solidFill>
                  <a:srgbClr val="E2604F"/>
                </a:solidFill>
                <a:latin typeface="Cambria" pitchFamily="34" charset="0"/>
                <a:ea typeface="Cambria" pitchFamily="34" charset="-122"/>
                <a:cs typeface="Cambria" pitchFamily="34" charset="-120"/>
              </a:rPr>
              <a:t>”</a:t>
            </a:r>
            <a:endParaRPr lang="en-US" sz="5400" dirty="0"/>
          </a:p>
        </p:txBody>
      </p:sp>
      <p:sp>
        <p:nvSpPr>
          <p:cNvPr id="10" name="Text 8"/>
          <p:cNvSpPr/>
          <p:nvPr/>
        </p:nvSpPr>
        <p:spPr>
          <a:xfrm>
            <a:off x="1554480" y="3310128"/>
            <a:ext cx="7955280" cy="1051560"/>
          </a:xfrm>
          <a:prstGeom prst="rect">
            <a:avLst/>
          </a:prstGeom>
          <a:noFill/>
          <a:ln/>
        </p:spPr>
        <p:txBody>
          <a:bodyPr wrap="square" lIns="0" tIns="0" rIns="0" bIns="0" rtlCol="0" anchor="ctr"/>
          <a:lstStyle/>
          <a:p>
            <a:pPr marL="0" indent="0">
              <a:buNone/>
            </a:pPr>
            <a:r>
              <a:rPr lang="en-US" sz="1700" i="1" dirty="0">
                <a:solidFill>
                  <a:srgbClr val="1E2A32"/>
                </a:solidFill>
                <a:latin typeface="Cambria" pitchFamily="34" charset="0"/>
                <a:ea typeface="Cambria" pitchFamily="34" charset="-122"/>
                <a:cs typeface="Cambria" pitchFamily="34" charset="-120"/>
              </a:rPr>
              <a:t>“Me gustaría más realista, menos caricatura manga; mejorar el movimiento y los gestos.”</a:t>
            </a:r>
            <a:endParaRPr lang="en-US" sz="1700" dirty="0"/>
          </a:p>
        </p:txBody>
      </p:sp>
      <p:sp>
        <p:nvSpPr>
          <p:cNvPr id="11" name="Text 9"/>
          <p:cNvSpPr/>
          <p:nvPr/>
        </p:nvSpPr>
        <p:spPr>
          <a:xfrm>
            <a:off x="9601200" y="3310128"/>
            <a:ext cx="1920240" cy="1051560"/>
          </a:xfrm>
          <a:prstGeom prst="rect">
            <a:avLst/>
          </a:prstGeom>
          <a:noFill/>
          <a:ln/>
        </p:spPr>
        <p:txBody>
          <a:bodyPr wrap="square" lIns="0" tIns="0" rIns="0" bIns="0" rtlCol="0" anchor="ctr"/>
          <a:lstStyle/>
          <a:p>
            <a:pPr marL="0" indent="0" algn="r">
              <a:buNone/>
            </a:pPr>
            <a:r>
              <a:rPr lang="en-US" sz="1300" b="1" dirty="0">
                <a:solidFill>
                  <a:srgbClr val="E2604F"/>
                </a:solidFill>
                <a:latin typeface="Calibri" pitchFamily="34" charset="0"/>
                <a:ea typeface="Calibri" pitchFamily="34" charset="-122"/>
                <a:cs typeface="Calibri" pitchFamily="34" charset="-120"/>
              </a:rPr>
              <a:t>Participante AVC</a:t>
            </a:r>
            <a:endParaRPr lang="en-US" sz="1300" dirty="0"/>
          </a:p>
        </p:txBody>
      </p:sp>
      <p:sp>
        <p:nvSpPr>
          <p:cNvPr id="12" name="Shape 10"/>
          <p:cNvSpPr/>
          <p:nvPr/>
        </p:nvSpPr>
        <p:spPr>
          <a:xfrm>
            <a:off x="502920" y="4617720"/>
            <a:ext cx="11155680" cy="1280160"/>
          </a:xfrm>
          <a:prstGeom prst="roundRect">
            <a:avLst>
              <a:gd name="adj" fmla="val 7143"/>
            </a:avLst>
          </a:prstGeom>
          <a:solidFill>
            <a:srgbClr val="EEF5F6"/>
          </a:solidFill>
          <a:ln/>
          <a:effectLst>
            <a:outerShdw blurRad="88900" dist="38100" dir="5400000" algn="bl" rotWithShape="0">
              <a:srgbClr val="000000">
                <a:alpha val="13000"/>
              </a:srgbClr>
            </a:outerShdw>
          </a:effectLst>
        </p:spPr>
        <p:txBody>
          <a:bodyPr/>
          <a:lstStyle/>
          <a:p>
            <a:endParaRPr lang="es-CR"/>
          </a:p>
        </p:txBody>
      </p:sp>
      <p:sp>
        <p:nvSpPr>
          <p:cNvPr id="13" name="Text 11"/>
          <p:cNvSpPr/>
          <p:nvPr/>
        </p:nvSpPr>
        <p:spPr>
          <a:xfrm>
            <a:off x="685800" y="4572000"/>
            <a:ext cx="731520" cy="1097280"/>
          </a:xfrm>
          <a:prstGeom prst="rect">
            <a:avLst/>
          </a:prstGeom>
          <a:noFill/>
          <a:ln/>
        </p:spPr>
        <p:txBody>
          <a:bodyPr wrap="square" lIns="0" tIns="0" rIns="0" bIns="0" rtlCol="0" anchor="ctr"/>
          <a:lstStyle/>
          <a:p>
            <a:pPr marL="0" indent="0">
              <a:buNone/>
            </a:pPr>
            <a:r>
              <a:rPr lang="en-US" sz="5400" b="1" dirty="0">
                <a:solidFill>
                  <a:srgbClr val="0E7C86"/>
                </a:solidFill>
                <a:latin typeface="Cambria" pitchFamily="34" charset="0"/>
                <a:ea typeface="Cambria" pitchFamily="34" charset="-122"/>
                <a:cs typeface="Cambria" pitchFamily="34" charset="-120"/>
              </a:rPr>
              <a:t>”</a:t>
            </a:r>
            <a:endParaRPr lang="en-US" sz="5400" dirty="0"/>
          </a:p>
        </p:txBody>
      </p:sp>
      <p:sp>
        <p:nvSpPr>
          <p:cNvPr id="14" name="Text 12"/>
          <p:cNvSpPr/>
          <p:nvPr/>
        </p:nvSpPr>
        <p:spPr>
          <a:xfrm>
            <a:off x="1554480" y="4727448"/>
            <a:ext cx="7955280" cy="1051560"/>
          </a:xfrm>
          <a:prstGeom prst="rect">
            <a:avLst/>
          </a:prstGeom>
          <a:noFill/>
          <a:ln/>
        </p:spPr>
        <p:txBody>
          <a:bodyPr wrap="square" lIns="0" tIns="0" rIns="0" bIns="0" rtlCol="0" anchor="ctr"/>
          <a:lstStyle/>
          <a:p>
            <a:pPr marL="0" indent="0">
              <a:buNone/>
            </a:pPr>
            <a:r>
              <a:rPr lang="en-US" sz="1700" i="1" dirty="0">
                <a:solidFill>
                  <a:srgbClr val="1E2A32"/>
                </a:solidFill>
                <a:latin typeface="Cambria" pitchFamily="34" charset="0"/>
                <a:ea typeface="Cambria" pitchFamily="34" charset="-122"/>
                <a:cs typeface="Cambria" pitchFamily="34" charset="-120"/>
              </a:rPr>
              <a:t>“Lo que me hizo confiar fue ver el artículo para comprobar; ver los artículos ayudó.”</a:t>
            </a:r>
            <a:endParaRPr lang="en-US" sz="1700" dirty="0"/>
          </a:p>
        </p:txBody>
      </p:sp>
      <p:sp>
        <p:nvSpPr>
          <p:cNvPr id="15" name="Text 13"/>
          <p:cNvSpPr/>
          <p:nvPr/>
        </p:nvSpPr>
        <p:spPr>
          <a:xfrm>
            <a:off x="9601200" y="4727448"/>
            <a:ext cx="1920240" cy="1051560"/>
          </a:xfrm>
          <a:prstGeom prst="rect">
            <a:avLst/>
          </a:prstGeom>
          <a:noFill/>
          <a:ln/>
        </p:spPr>
        <p:txBody>
          <a:bodyPr wrap="square" lIns="0" tIns="0" rIns="0" bIns="0" rtlCol="0" anchor="ctr"/>
          <a:lstStyle/>
          <a:p>
            <a:pPr marL="0" indent="0" algn="r">
              <a:buNone/>
            </a:pPr>
            <a:r>
              <a:rPr lang="en-US" sz="1300" b="1" dirty="0">
                <a:solidFill>
                  <a:srgbClr val="0E7C86"/>
                </a:solidFill>
                <a:latin typeface="Calibri" pitchFamily="34" charset="0"/>
                <a:ea typeface="Calibri" pitchFamily="34" charset="-122"/>
                <a:cs typeface="Calibri" pitchFamily="34" charset="-120"/>
              </a:rPr>
              <a:t>Participante texto</a:t>
            </a:r>
            <a:endParaRPr lang="en-US" sz="1300" dirty="0"/>
          </a:p>
        </p:txBody>
      </p:sp>
      <p:sp>
        <p:nvSpPr>
          <p:cNvPr id="16" name="Text 14"/>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10515600" cy="274320"/>
          </a:xfrm>
          <a:prstGeom prst="rect">
            <a:avLst/>
          </a:prstGeom>
          <a:noFill/>
          <a:ln/>
        </p:spPr>
        <p:txBody>
          <a:bodyPr wrap="square" lIns="0" tIns="0" rIns="0" bIns="0" rtlCol="0" anchor="ctr"/>
          <a:lstStyle/>
          <a:p>
            <a:pPr marL="0" indent="0">
              <a:buNone/>
            </a:pPr>
            <a:r>
              <a:rPr lang="en-US" sz="1200" b="1" kern="0" spc="200" dirty="0">
                <a:solidFill>
                  <a:srgbClr val="0E7C86"/>
                </a:solidFill>
                <a:latin typeface="Calibri" pitchFamily="34" charset="0"/>
                <a:ea typeface="Calibri" pitchFamily="34" charset="-122"/>
                <a:cs typeface="Calibri" pitchFamily="34" charset="-120"/>
              </a:rPr>
              <a:t>CONCLUSIONES Y TRABAJO FUTURO</a:t>
            </a:r>
            <a:endParaRPr lang="en-US" sz="1200" dirty="0"/>
          </a:p>
        </p:txBody>
      </p:sp>
      <p:sp>
        <p:nvSpPr>
          <p:cNvPr id="3" name="Text 1"/>
          <p:cNvSpPr/>
          <p:nvPr/>
        </p:nvSpPr>
        <p:spPr>
          <a:xfrm>
            <a:off x="502920" y="676656"/>
            <a:ext cx="11155680" cy="777240"/>
          </a:xfrm>
          <a:prstGeom prst="rect">
            <a:avLst/>
          </a:prstGeom>
          <a:noFill/>
          <a:ln/>
        </p:spPr>
        <p:txBody>
          <a:bodyPr wrap="square" lIns="0" tIns="0" rIns="0" bIns="0" rtlCol="0" anchor="ctr"/>
          <a:lstStyle/>
          <a:p>
            <a:pPr marL="0" indent="0">
              <a:buNone/>
            </a:pPr>
            <a:r>
              <a:rPr lang="en-US" sz="3000" b="1" dirty="0">
                <a:solidFill>
                  <a:srgbClr val="1E2A32"/>
                </a:solidFill>
                <a:latin typeface="Cambria" pitchFamily="34" charset="0"/>
                <a:ea typeface="Cambria" pitchFamily="34" charset="-122"/>
                <a:cs typeface="Cambria" pitchFamily="34" charset="-120"/>
              </a:rPr>
              <a:t>El cuello de botella es la fidelidad, no el cuerpo</a:t>
            </a:r>
            <a:endParaRPr lang="en-US" sz="3000" dirty="0"/>
          </a:p>
        </p:txBody>
      </p:sp>
      <p:sp>
        <p:nvSpPr>
          <p:cNvPr id="4" name="Text 2"/>
          <p:cNvSpPr/>
          <p:nvPr/>
        </p:nvSpPr>
        <p:spPr>
          <a:xfrm>
            <a:off x="502920" y="1737360"/>
            <a:ext cx="6766560" cy="3474720"/>
          </a:xfrm>
          <a:prstGeom prst="rect">
            <a:avLst/>
          </a:prstGeom>
          <a:noFill/>
          <a:ln/>
        </p:spPr>
        <p:txBody>
          <a:bodyPr wrap="square" rtlCol="0" anchor="t"/>
          <a:lstStyle/>
          <a:p>
            <a:pPr marL="342900" indent="-342900">
              <a:spcAft>
                <a:spcPts val="1000"/>
              </a:spcAft>
              <a:buSzPct val="100000"/>
              <a:buChar char="•"/>
            </a:pPr>
            <a:r>
              <a:rPr lang="en-US" sz="1650" dirty="0">
                <a:solidFill>
                  <a:srgbClr val="1E2A32"/>
                </a:solidFill>
                <a:latin typeface="Calibri" pitchFamily="34" charset="0"/>
                <a:ea typeface="Calibri" pitchFamily="34" charset="-122"/>
                <a:cs typeface="Calibri" pitchFamily="34" charset="-120"/>
              </a:rPr>
              <a:t>El embodiment subió la confianza, bajó la naturalidad y dejó igual usabilidad y retención.</a:t>
            </a:r>
            <a:endParaRPr lang="en-US" sz="1650" dirty="0"/>
          </a:p>
          <a:p>
            <a:pPr marL="342900" indent="-342900">
              <a:spcAft>
                <a:spcPts val="1000"/>
              </a:spcAft>
              <a:buSzPct val="100000"/>
              <a:buChar char="•"/>
            </a:pPr>
            <a:r>
              <a:rPr lang="en-US" sz="1650" dirty="0">
                <a:solidFill>
                  <a:srgbClr val="1E2A32"/>
                </a:solidFill>
                <a:latin typeface="Calibri" pitchFamily="34" charset="0"/>
                <a:ea typeface="Calibri" pitchFamily="34" charset="-122"/>
                <a:cs typeface="Calibri" pitchFamily="34" charset="-120"/>
              </a:rPr>
              <a:t>La variable decisiva es la fidelidad multimodal (voz + animación), no la mera presencia de un cuerpo.</a:t>
            </a:r>
            <a:endParaRPr lang="en-US" sz="1650" dirty="0"/>
          </a:p>
          <a:p>
            <a:pPr marL="342900" indent="-342900">
              <a:spcAft>
                <a:spcPts val="1000"/>
              </a:spcAft>
              <a:buSzPct val="100000"/>
              <a:buChar char="•"/>
            </a:pPr>
            <a:r>
              <a:rPr lang="en-US" sz="1650" dirty="0">
                <a:solidFill>
                  <a:srgbClr val="1E2A32"/>
                </a:solidFill>
                <a:latin typeface="Calibri" pitchFamily="34" charset="0"/>
                <a:ea typeface="Calibri" pitchFamily="34" charset="-122"/>
                <a:cs typeface="Calibri" pitchFamily="34" charset="-120"/>
              </a:rPr>
              <a:t>Diseño: hacer siempre visible la fuente verificable para consolidar la confianza.</a:t>
            </a:r>
            <a:endParaRPr lang="en-US" sz="1650" dirty="0"/>
          </a:p>
          <a:p>
            <a:pPr marL="342900" indent="-342900">
              <a:buSzPct val="100000"/>
              <a:buChar char="•"/>
            </a:pPr>
            <a:r>
              <a:rPr lang="en-US" sz="1650" dirty="0">
                <a:solidFill>
                  <a:srgbClr val="1E2A32"/>
                </a:solidFill>
                <a:latin typeface="Calibri" pitchFamily="34" charset="0"/>
                <a:ea typeface="Calibri" pitchFamily="34" charset="-122"/>
                <a:cs typeface="Calibri" pitchFamily="34" charset="-120"/>
              </a:rPr>
              <a:t>Futuro: TTS neural de alta fidelidad, lip-sync guiado por audio real, avatar más realista; luego, estudio con usuarios reales.</a:t>
            </a:r>
            <a:endParaRPr lang="en-US" sz="1650" dirty="0"/>
          </a:p>
        </p:txBody>
      </p:sp>
      <p:sp>
        <p:nvSpPr>
          <p:cNvPr id="5" name="Shape 3"/>
          <p:cNvSpPr/>
          <p:nvPr/>
        </p:nvSpPr>
        <p:spPr>
          <a:xfrm>
            <a:off x="7589520" y="1783080"/>
            <a:ext cx="4069080" cy="3200400"/>
          </a:xfrm>
          <a:prstGeom prst="roundRect">
            <a:avLst>
              <a:gd name="adj" fmla="val 3429"/>
            </a:avLst>
          </a:prstGeom>
          <a:solidFill>
            <a:srgbClr val="0E2A38"/>
          </a:solidFill>
          <a:ln/>
          <a:effectLst>
            <a:outerShdw blurRad="88900" dist="38100" dir="5400000" algn="bl" rotWithShape="0">
              <a:srgbClr val="000000">
                <a:alpha val="13000"/>
              </a:srgbClr>
            </a:outerShdw>
          </a:effectLst>
        </p:spPr>
        <p:txBody>
          <a:bodyPr/>
          <a:lstStyle/>
          <a:p>
            <a:endParaRPr lang="es-CR"/>
          </a:p>
        </p:txBody>
      </p:sp>
      <p:sp>
        <p:nvSpPr>
          <p:cNvPr id="6" name="Text 4"/>
          <p:cNvSpPr/>
          <p:nvPr/>
        </p:nvSpPr>
        <p:spPr>
          <a:xfrm>
            <a:off x="7863840" y="2011680"/>
            <a:ext cx="3566160" cy="365760"/>
          </a:xfrm>
          <a:prstGeom prst="rect">
            <a:avLst/>
          </a:prstGeom>
          <a:noFill/>
          <a:ln/>
        </p:spPr>
        <p:txBody>
          <a:bodyPr wrap="square" lIns="0" tIns="0" rIns="0" bIns="0" rtlCol="0" anchor="ctr"/>
          <a:lstStyle/>
          <a:p>
            <a:pPr marL="0" indent="0">
              <a:buNone/>
            </a:pPr>
            <a:r>
              <a:rPr lang="en-US" sz="1300" b="1" kern="0" spc="100" dirty="0">
                <a:solidFill>
                  <a:srgbClr val="1FB6A6"/>
                </a:solidFill>
                <a:latin typeface="Calibri" pitchFamily="34" charset="0"/>
                <a:ea typeface="Calibri" pitchFamily="34" charset="-122"/>
                <a:cs typeface="Calibri" pitchFamily="34" charset="-120"/>
              </a:rPr>
              <a:t>Proyección de publicación</a:t>
            </a:r>
            <a:endParaRPr lang="en-US" sz="1300" dirty="0"/>
          </a:p>
        </p:txBody>
      </p:sp>
      <p:sp>
        <p:nvSpPr>
          <p:cNvPr id="7" name="Text 5"/>
          <p:cNvSpPr/>
          <p:nvPr/>
        </p:nvSpPr>
        <p:spPr>
          <a:xfrm>
            <a:off x="7863840" y="2468880"/>
            <a:ext cx="3566160" cy="2377440"/>
          </a:xfrm>
          <a:prstGeom prst="rect">
            <a:avLst/>
          </a:prstGeom>
          <a:noFill/>
          <a:ln/>
        </p:spPr>
        <p:txBody>
          <a:bodyPr wrap="square" lIns="0" tIns="0" rIns="0" bIns="0" rtlCol="0" anchor="t"/>
          <a:lstStyle/>
          <a:p>
            <a:pPr marL="0" indent="0">
              <a:buNone/>
            </a:pPr>
            <a:r>
              <a:rPr lang="en-US" sz="1450" dirty="0">
                <a:solidFill>
                  <a:srgbClr val="DDEBED"/>
                </a:solidFill>
                <a:latin typeface="Calibri" pitchFamily="34" charset="0"/>
                <a:ea typeface="Calibri" pitchFamily="34" charset="-122"/>
                <a:cs typeface="Calibri" pitchFamily="34" charset="-120"/>
              </a:rPr>
              <a:t>Por ahora NO se proyecta someter el estudio al CEC ni recolectar datos formales para publicación; es un ejercicio de investigación del curso. Con mayor fidelidad, el siguiente paso natural sería un estudio con usuarios reales.</a:t>
            </a:r>
            <a:endParaRPr lang="en-US" sz="1450" dirty="0"/>
          </a:p>
        </p:txBody>
      </p:sp>
      <p:sp>
        <p:nvSpPr>
          <p:cNvPr id="8" name="Text 6"/>
          <p:cNvSpPr/>
          <p:nvPr/>
        </p:nvSpPr>
        <p:spPr>
          <a:xfrm>
            <a:off x="502920" y="6473952"/>
            <a:ext cx="8686800" cy="274320"/>
          </a:xfrm>
          <a:prstGeom prst="rect">
            <a:avLst/>
          </a:prstGeom>
          <a:noFill/>
          <a:ln/>
        </p:spPr>
        <p:txBody>
          <a:bodyPr wrap="square" lIns="0" tIns="0" rIns="0" bIns="0" rtlCol="0" anchor="ctr"/>
          <a:lstStyle/>
          <a:p>
            <a:pPr marL="0" indent="0" algn="l">
              <a:buNone/>
            </a:pPr>
            <a:r>
              <a:rPr lang="en-US" sz="900" dirty="0">
                <a:solidFill>
                  <a:srgbClr val="5C7079"/>
                </a:solidFill>
                <a:latin typeface="Calibri" pitchFamily="34" charset="0"/>
                <a:ea typeface="Calibri" pitchFamily="34" charset="-122"/>
                <a:cs typeface="Calibri" pitchFamily="34" charset="-120"/>
              </a:rPr>
              <a:t>Ariel · PF-3311 Agentes Virtuales Inteligentes · UCR-ECCI</a:t>
            </a:r>
            <a:endParaRPr lang="en-US" sz="900" dirty="0"/>
          </a:p>
        </p:txBody>
      </p:sp>
      <p:sp>
        <p:nvSpPr>
          <p:cNvPr id="9" name="Text 7"/>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C70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1371600" y="4206240"/>
            <a:ext cx="4206240" cy="4206240"/>
          </a:xfrm>
          <a:prstGeom prst="ellipse">
            <a:avLst/>
          </a:prstGeom>
          <a:solidFill>
            <a:srgbClr val="0E7C86">
              <a:alpha val="38000"/>
            </a:srgbClr>
          </a:solidFill>
          <a:ln/>
        </p:spPr>
        <p:txBody>
          <a:bodyPr/>
          <a:lstStyle/>
          <a:p>
            <a:endParaRPr lang="es-CR"/>
          </a:p>
        </p:txBody>
      </p:sp>
      <p:sp>
        <p:nvSpPr>
          <p:cNvPr id="3" name="Shape 1"/>
          <p:cNvSpPr/>
          <p:nvPr/>
        </p:nvSpPr>
        <p:spPr>
          <a:xfrm>
            <a:off x="10332720" y="-1280160"/>
            <a:ext cx="3474720" cy="3474720"/>
          </a:xfrm>
          <a:prstGeom prst="ellipse">
            <a:avLst/>
          </a:prstGeom>
          <a:solidFill>
            <a:srgbClr val="1FB6A6">
              <a:alpha val="28000"/>
            </a:srgbClr>
          </a:solidFill>
          <a:ln/>
        </p:spPr>
        <p:txBody>
          <a:bodyPr/>
          <a:lstStyle/>
          <a:p>
            <a:endParaRPr lang="es-CR"/>
          </a:p>
        </p:txBody>
      </p:sp>
      <p:sp>
        <p:nvSpPr>
          <p:cNvPr id="4" name="Text 2"/>
          <p:cNvSpPr/>
          <p:nvPr/>
        </p:nvSpPr>
        <p:spPr>
          <a:xfrm>
            <a:off x="822960" y="2286000"/>
            <a:ext cx="10058400" cy="100584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Gracias</a:t>
            </a:r>
            <a:endParaRPr lang="en-US" sz="5000" dirty="0"/>
          </a:p>
        </p:txBody>
      </p:sp>
      <p:sp>
        <p:nvSpPr>
          <p:cNvPr id="5" name="Text 3"/>
          <p:cNvSpPr/>
          <p:nvPr/>
        </p:nvSpPr>
        <p:spPr>
          <a:xfrm>
            <a:off x="868680" y="3383280"/>
            <a:ext cx="10058400" cy="548640"/>
          </a:xfrm>
          <a:prstGeom prst="rect">
            <a:avLst/>
          </a:prstGeom>
          <a:noFill/>
          <a:ln/>
        </p:spPr>
        <p:txBody>
          <a:bodyPr wrap="square" lIns="0" tIns="0" rIns="0" bIns="0" rtlCol="0" anchor="ctr"/>
          <a:lstStyle/>
          <a:p>
            <a:pPr marL="0" indent="0">
              <a:buNone/>
            </a:pPr>
            <a:r>
              <a:rPr lang="en-US" sz="2000" dirty="0">
                <a:solidFill>
                  <a:srgbClr val="1FB6A6"/>
                </a:solidFill>
                <a:latin typeface="Calibri" pitchFamily="34" charset="0"/>
                <a:ea typeface="Calibri" pitchFamily="34" charset="-122"/>
                <a:cs typeface="Calibri" pitchFamily="34" charset="-120"/>
              </a:rPr>
              <a:t>Preguntas y discusión</a:t>
            </a:r>
            <a:endParaRPr lang="en-US" sz="2000" dirty="0"/>
          </a:p>
        </p:txBody>
      </p:sp>
      <p:sp>
        <p:nvSpPr>
          <p:cNvPr id="6" name="Text 4"/>
          <p:cNvSpPr/>
          <p:nvPr/>
        </p:nvSpPr>
        <p:spPr>
          <a:xfrm>
            <a:off x="868680" y="4160520"/>
            <a:ext cx="10515600" cy="822960"/>
          </a:xfrm>
          <a:prstGeom prst="rect">
            <a:avLst/>
          </a:prstGeom>
          <a:noFill/>
          <a:ln/>
        </p:spPr>
        <p:txBody>
          <a:bodyPr wrap="square" lIns="0" tIns="0" rIns="0" bIns="0" rtlCol="0" anchor="ctr"/>
          <a:lstStyle/>
          <a:p>
            <a:pPr marL="0" indent="0">
              <a:buNone/>
            </a:pPr>
            <a:r>
              <a:rPr lang="en-US" sz="1600" dirty="0">
                <a:solidFill>
                  <a:srgbClr val="CFE3E6"/>
                </a:solidFill>
                <a:latin typeface="Calibri" pitchFamily="34" charset="0"/>
                <a:ea typeface="Calibri" pitchFamily="34" charset="-122"/>
                <a:cs typeface="Calibri" pitchFamily="34" charset="-120"/>
              </a:rPr>
              <a:t>Marco Antonio Jiménez Gutiérrez  ·  marjimgu@gmail.com</a:t>
            </a:r>
            <a:endParaRPr lang="en-US" sz="1600" dirty="0"/>
          </a:p>
          <a:p>
            <a:pPr marL="0" indent="0">
              <a:buNone/>
            </a:pPr>
            <a:r>
              <a:rPr lang="en-US" sz="1300" dirty="0">
                <a:solidFill>
                  <a:srgbClr val="8FB0B6"/>
                </a:solidFill>
                <a:latin typeface="Calibri" pitchFamily="34" charset="0"/>
                <a:ea typeface="Calibri" pitchFamily="34" charset="-122"/>
                <a:cs typeface="Calibri" pitchFamily="34" charset="-120"/>
              </a:rPr>
              <a:t>Ariel — agente virtual corporizado sobre RAG  ·  UCR-ECCI  ·  PF-3311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1893</Words>
  <Application>Microsoft Office PowerPoint</Application>
  <PresentationFormat>Panorámica</PresentationFormat>
  <Paragraphs>149</Paragraphs>
  <Slides>12</Slides>
  <Notes>12</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Ariel — ¿Ayuda el embodiment?</dc:title>
  <dc:subject>PptxGenJS Presentation</dc:subject>
  <dc:creator>Marco Antonio Jiménez Gutiérrez</dc:creator>
  <cp:lastModifiedBy>MARCO ANTONIO JIMENEZ GUTIERREZ</cp:lastModifiedBy>
  <cp:revision>2</cp:revision>
  <dcterms:created xsi:type="dcterms:W3CDTF">2026-06-23T02:40:54Z</dcterms:created>
  <dcterms:modified xsi:type="dcterms:W3CDTF">2026-06-24T00:35:36Z</dcterms:modified>
</cp:coreProperties>
</file>